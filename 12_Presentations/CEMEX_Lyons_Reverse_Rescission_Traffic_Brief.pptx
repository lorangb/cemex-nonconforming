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1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olumes/MiniExt/Projects/cemex-nonconforming/CEMEX-Repo-v2/Images/cemex_lyons.png">    </p:cNvPr>
          <p:cNvPicPr>
            <a:picLocks noChangeAspect="1"/>
          </p:cNvPicPr>
          <p:nvPr/>
        </p:nvPicPr>
        <p:blipFill>
          <a:blip r:embed="rId1">
            <a:alphaModFix amt="82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126">
              <a:alpha val="90000"/>
            </a:srgbClr>
          </a:solidFill>
          <a:ln w="12700">
            <a:solidFill>
              <a:srgbClr val="12212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66928" y="566928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B64B35"/>
          </a:solidFill>
          <a:ln w="12700">
            <a:solidFill>
              <a:srgbClr val="B64B3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58368" y="649224"/>
            <a:ext cx="1417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</a:rPr>
              <a:t>PUBLIC TRIAL BRIEF</a:t>
            </a:r>
            <a:endParaRPr lang="en-US" sz="740" dirty="0"/>
          </a:p>
        </p:txBody>
      </p:sp>
      <p:sp>
        <p:nvSpPr>
          <p:cNvPr id="6" name="Text 3"/>
          <p:cNvSpPr/>
          <p:nvPr/>
        </p:nvSpPr>
        <p:spPr>
          <a:xfrm>
            <a:off x="566928" y="1060704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Reverse the Rescission</a:t>
            </a:r>
            <a:endParaRPr lang="en-US" sz="3700" dirty="0"/>
          </a:p>
        </p:txBody>
      </p:sp>
      <p:sp>
        <p:nvSpPr>
          <p:cNvPr id="7" name="Text 4"/>
          <p:cNvSpPr/>
          <p:nvPr/>
        </p:nvSpPr>
        <p:spPr>
          <a:xfrm>
            <a:off x="603504" y="1993392"/>
            <a:ext cx="635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2EEE5"/>
                </a:solidFill>
              </a:rPr>
              <a:t>CEMEX changed the plant operation. The truck traffic proves it.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03504" y="3063240"/>
            <a:ext cx="5806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DDE5E0"/>
                </a:solidFill>
              </a:rPr>
              <a:t>A simplified case for Boulder County citizens: reinstate the April 10, 2024 termination determination.</a:t>
            </a:r>
            <a:endParaRPr lang="en-US" sz="1320" dirty="0"/>
          </a:p>
        </p:txBody>
      </p:sp>
      <p:sp>
        <p:nvSpPr>
          <p:cNvPr id="9" name="Text 6"/>
          <p:cNvSpPr/>
          <p:nvPr/>
        </p:nvSpPr>
        <p:spPr>
          <a:xfrm>
            <a:off x="603504" y="6272784"/>
            <a:ext cx="594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CDD8D2"/>
                </a:solidFill>
              </a:rPr>
              <a:t>Prepared from the CEMEX Lyons public archive. Verify against original records before official filing.</a:t>
            </a:r>
            <a:endParaRPr lang="en-US" sz="7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0116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spc="60" kern="0" dirty="0">
                <a:solidFill>
                  <a:srgbClr val="116B74"/>
                </a:solidFill>
              </a:rPr>
              <a:t>OPENING STATEMENT</a:t>
            </a:r>
            <a:endParaRPr lang="en-US" sz="68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9875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82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This case is not complicated.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43000"/>
            <a:ext cx="10881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143000"/>
            <a:ext cx="128016" cy="822960"/>
          </a:xfrm>
          <a:prstGeom prst="rect">
            <a:avLst/>
          </a:prstGeom>
          <a:solidFill>
            <a:srgbClr val="963927"/>
          </a:solidFill>
          <a:ln w="12700">
            <a:solidFill>
              <a:srgbClr val="9639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225296"/>
            <a:ext cx="10469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8282D"/>
                </a:solidFill>
              </a:rPr>
              <a:t>For decades, the plant depended on local and adjoining raw-material supply. CEMEX replaced that system with distant trucked feedstock. That is an altered nonconforming use, and the traffic numbers are the proof.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2468880"/>
            <a:ext cx="3154680" cy="246888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8992" y="2761488"/>
            <a:ext cx="438912" cy="438912"/>
          </a:xfrm>
          <a:prstGeom prst="ellipse">
            <a:avLst/>
          </a:prstGeom>
          <a:solidFill>
            <a:srgbClr val="116B7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16152" y="289864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691640" y="27980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18282D"/>
                </a:solidFill>
              </a:rPr>
              <a:t>Historic use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1170432" y="3401568"/>
            <a:ext cx="24871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82D"/>
                </a:solidFill>
              </a:rPr>
              <a:t>Local quarry and conveyor logistics anchored the cement plant operation.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26280" y="2468880"/>
            <a:ext cx="3154680" cy="2468880"/>
          </a:xfrm>
          <a:prstGeom prst="rect">
            <a:avLst/>
          </a:prstGeom>
          <a:solidFill>
            <a:srgbClr val="122126"/>
          </a:solidFill>
          <a:ln w="10160">
            <a:solidFill>
              <a:srgbClr val="1221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82312" y="2761488"/>
            <a:ext cx="438912" cy="438912"/>
          </a:xfrm>
          <a:prstGeom prst="ellipse">
            <a:avLst/>
          </a:prstGeom>
          <a:solidFill>
            <a:srgbClr val="116B7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9472" y="289864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394960" y="27980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FFFFFF"/>
                </a:solidFill>
              </a:rPr>
              <a:t>What changed</a:t>
            </a:r>
            <a:endParaRPr lang="en-US" sz="1440" dirty="0"/>
          </a:p>
        </p:txBody>
      </p:sp>
      <p:sp>
        <p:nvSpPr>
          <p:cNvPr id="16" name="Text 14"/>
          <p:cNvSpPr/>
          <p:nvPr/>
        </p:nvSpPr>
        <p:spPr>
          <a:xfrm>
            <a:off x="4873752" y="3401568"/>
            <a:ext cx="24871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4EEE4"/>
                </a:solidFill>
              </a:rPr>
              <a:t>After local sources ran down and Dowe Flats closed, raw materials shifted to highway trucks.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229600" y="2468880"/>
            <a:ext cx="3154680" cy="246888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85632" y="2761488"/>
            <a:ext cx="438912" cy="438912"/>
          </a:xfrm>
          <a:prstGeom prst="ellipse">
            <a:avLst/>
          </a:prstGeom>
          <a:solidFill>
            <a:srgbClr val="B64B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22792" y="289864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098280" y="27980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18282D"/>
                </a:solidFill>
              </a:rPr>
              <a:t>Why it matters</a:t>
            </a:r>
            <a:endParaRPr lang="en-US" sz="1440" dirty="0"/>
          </a:p>
        </p:txBody>
      </p:sp>
      <p:sp>
        <p:nvSpPr>
          <p:cNvPr id="21" name="Text 19"/>
          <p:cNvSpPr/>
          <p:nvPr/>
        </p:nvSpPr>
        <p:spPr>
          <a:xfrm>
            <a:off x="8577072" y="3401568"/>
            <a:ext cx="24871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82D"/>
                </a:solidFill>
              </a:rPr>
              <a:t>Article 4-1003.C.1.d reaches alterations that create or threaten hazard, nuisance, neighborhood impacts, or increased need for services.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8282D"/>
          </a:solidFill>
          <a:ln w="12700">
            <a:solidFill>
              <a:srgbClr val="18282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6537960"/>
            <a:ext cx="10744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DCE4DF"/>
                </a:solidFill>
              </a:rPr>
              <a:t>Sources: Silvestro letters to Dale Case, July 9 and Dec. 20, 2024; Boulder County Land Use Code Article 4-1003.C.1.d; CEMEX Historical Data.xlsx.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503152" y="652881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CE4DF"/>
                </a:solidFill>
              </a:rPr>
              <a:t>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0116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spc="60" kern="0" dirty="0">
                <a:solidFill>
                  <a:srgbClr val="116B74"/>
                </a:solidFill>
              </a:rPr>
              <a:t>THE TIMELINE</a:t>
            </a:r>
            <a:endParaRPr lang="en-US" sz="68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9875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82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old operation is gone.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05840" y="3063240"/>
            <a:ext cx="9966960" cy="0"/>
          </a:xfrm>
          <a:prstGeom prst="line">
            <a:avLst/>
          </a:prstGeom>
          <a:noFill/>
          <a:ln w="26670">
            <a:solidFill>
              <a:srgbClr val="116B7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44752" y="2852928"/>
            <a:ext cx="420624" cy="420624"/>
          </a:xfrm>
          <a:prstGeom prst="ellipse">
            <a:avLst/>
          </a:prstGeom>
          <a:solidFill>
            <a:srgbClr val="116B7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25880"/>
            <a:ext cx="2423160" cy="123444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6002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6B74"/>
                </a:solidFill>
              </a:rPr>
              <a:t>1994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730752"/>
            <a:ext cx="199339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20" dirty="0">
                <a:solidFill>
                  <a:srgbClr val="18282D"/>
                </a:solidFill>
              </a:rPr>
              <a:t>Plant becomes nonconforming. Dowe Flats approval required conveyor logistics that reduced road hauling.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4261104" y="2852928"/>
            <a:ext cx="420624" cy="420624"/>
          </a:xfrm>
          <a:prstGeom prst="ellipse">
            <a:avLst/>
          </a:prstGeom>
          <a:solidFill>
            <a:srgbClr val="116B7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47872" y="1325880"/>
            <a:ext cx="2423160" cy="123444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16002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6B74"/>
                </a:solidFill>
              </a:rPr>
              <a:t>2018-20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30752" y="3730752"/>
            <a:ext cx="199339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20" dirty="0">
                <a:solidFill>
                  <a:srgbClr val="18282D"/>
                </a:solidFill>
              </a:rPr>
              <a:t>CEMEX begins relying on Wyoming limestone as Dowe Flats limestone runs out.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7077456" y="2852928"/>
            <a:ext cx="420624" cy="420624"/>
          </a:xfrm>
          <a:prstGeom prst="ellipse">
            <a:avLst/>
          </a:prstGeom>
          <a:solidFill>
            <a:srgbClr val="116B7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64224" y="1325880"/>
            <a:ext cx="2423160" cy="123444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65392" y="16002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6B74"/>
                </a:solidFill>
              </a:rPr>
              <a:t>Sept. 30, 2022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47104" y="3730752"/>
            <a:ext cx="199339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20" dirty="0">
                <a:solidFill>
                  <a:srgbClr val="18282D"/>
                </a:solidFill>
              </a:rPr>
              <a:t>Dowe Flats closes. Raw materials shift further to external highway trucks.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9893808" y="2852928"/>
            <a:ext cx="420624" cy="420624"/>
          </a:xfrm>
          <a:prstGeom prst="ellipse">
            <a:avLst/>
          </a:prstGeom>
          <a:solidFill>
            <a:srgbClr val="9639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80576" y="1325880"/>
            <a:ext cx="2423160" cy="123444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81744" y="16002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63927"/>
                </a:solidFill>
              </a:rPr>
              <a:t>April 10, 2024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63456" y="3730752"/>
            <a:ext cx="199339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20" dirty="0">
                <a:solidFill>
                  <a:srgbClr val="18282D"/>
                </a:solidFill>
              </a:rPr>
              <a:t>County terminates nonconforming status based on altered operations and increased truck impacts.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960120" y="5349240"/>
            <a:ext cx="10058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0120" y="5349240"/>
            <a:ext cx="128016" cy="512064"/>
          </a:xfrm>
          <a:prstGeom prst="rect">
            <a:avLst/>
          </a:prstGeom>
          <a:solidFill>
            <a:srgbClr val="B64B35"/>
          </a:solidFill>
          <a:ln w="12700">
            <a:solidFill>
              <a:srgbClr val="B64B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34440" y="5431536"/>
            <a:ext cx="9646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8282D"/>
                </a:solidFill>
              </a:rPr>
              <a:t>CEMEX wants the County to compare traffic as if the operation stayed the same. The record shows the opposite.</a:t>
            </a:r>
            <a:endParaRPr lang="en-US" sz="1320" dirty="0"/>
          </a:p>
        </p:txBody>
      </p:sp>
      <p:sp>
        <p:nvSpPr>
          <p:cNvPr id="24" name="Shape 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8282D"/>
          </a:solidFill>
          <a:ln w="12700">
            <a:solidFill>
              <a:srgbClr val="18282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6537960"/>
            <a:ext cx="10744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DCE4DF"/>
                </a:solidFill>
              </a:rPr>
              <a:t>Sources: CEMEX Historical Data.xlsx, Data Dec18 and Inbound Material Modes; PT0658 annual reports; Boulder County April 10, 2024 Notice; Silvestro letters.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503152" y="652881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CE4DF"/>
                </a:solidFill>
              </a:rPr>
              <a:t>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0116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spc="60" kern="0" dirty="0">
                <a:solidFill>
                  <a:srgbClr val="116B74"/>
                </a:solidFill>
              </a:rPr>
              <a:t>THE TRAFFIC SPECTRUM</a:t>
            </a:r>
            <a:endParaRPr lang="en-US" sz="68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9875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82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key years show the arc from 1994 to 2026.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70432"/>
            <a:ext cx="5257800" cy="434340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1371600"/>
            <a:ext cx="4690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18282D"/>
                </a:solidFill>
              </a:rPr>
              <a:t>Inbound raw-material ADTs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1188720" y="4855464"/>
            <a:ext cx="4361688" cy="0"/>
          </a:xfrm>
          <a:prstGeom prst="line">
            <a:avLst/>
          </a:prstGeom>
          <a:noFill/>
          <a:ln w="12700">
            <a:solidFill>
              <a:srgbClr val="C7D0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4596422"/>
            <a:ext cx="4361688" cy="0"/>
          </a:xfrm>
          <a:prstGeom prst="line">
            <a:avLst/>
          </a:prstGeom>
          <a:noFill/>
          <a:ln w="10160">
            <a:solidFill>
              <a:srgbClr val="6571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4395254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57175"/>
                </a:solidFill>
              </a:rPr>
              <a:t>1994 inbound baseline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1115568" y="4523270"/>
            <a:ext cx="146304" cy="146304"/>
          </a:xfrm>
          <a:prstGeom prst="ellipse">
            <a:avLst/>
          </a:prstGeom>
          <a:solidFill>
            <a:srgbClr val="657175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8720" y="4678718"/>
            <a:ext cx="0" cy="176746"/>
          </a:xfrm>
          <a:prstGeom prst="line">
            <a:avLst/>
          </a:prstGeom>
          <a:noFill/>
          <a:ln w="10160">
            <a:solidFill>
              <a:srgbClr val="657175">
                <a:alpha val="7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4276382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657175"/>
                </a:solidFill>
              </a:rPr>
              <a:t>54</a:t>
            </a:r>
            <a:endParaRPr lang="en-US" sz="1140" dirty="0"/>
          </a:p>
        </p:txBody>
      </p:sp>
      <p:sp>
        <p:nvSpPr>
          <p:cNvPr id="12" name="Text 10"/>
          <p:cNvSpPr/>
          <p:nvPr/>
        </p:nvSpPr>
        <p:spPr>
          <a:xfrm>
            <a:off x="749808" y="497433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1994</a:t>
            </a:r>
            <a:endParaRPr lang="en-US" sz="730" dirty="0"/>
          </a:p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baseline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1188720" y="4596422"/>
            <a:ext cx="1090422" cy="-1208865"/>
          </a:xfrm>
          <a:prstGeom prst="line">
            <a:avLst/>
          </a:prstGeom>
          <a:noFill/>
          <a:ln w="15875">
            <a:solidFill>
              <a:srgbClr val="B64B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05990" y="3314405"/>
            <a:ext cx="146304" cy="146304"/>
          </a:xfrm>
          <a:prstGeom prst="ellipse">
            <a:avLst/>
          </a:prstGeom>
          <a:solidFill>
            <a:srgbClr val="288B8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79142" y="3469853"/>
            <a:ext cx="0" cy="1385611"/>
          </a:xfrm>
          <a:prstGeom prst="line">
            <a:avLst/>
          </a:prstGeom>
          <a:noFill/>
          <a:ln w="10160">
            <a:solidFill>
              <a:srgbClr val="288B8F">
                <a:alpha val="7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68246" y="3067517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288B8F"/>
                </a:solidFill>
              </a:rPr>
              <a:t>306</a:t>
            </a:r>
            <a:endParaRPr lang="en-US" sz="1140" dirty="0"/>
          </a:p>
        </p:txBody>
      </p:sp>
      <p:sp>
        <p:nvSpPr>
          <p:cNvPr id="17" name="Text 15"/>
          <p:cNvSpPr/>
          <p:nvPr/>
        </p:nvSpPr>
        <p:spPr>
          <a:xfrm>
            <a:off x="1840230" y="497433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2019-22</a:t>
            </a:r>
            <a:endParaRPr lang="en-US" sz="730" dirty="0"/>
          </a:p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avg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2279142" y="3387557"/>
            <a:ext cx="1090422" cy="-700374"/>
          </a:xfrm>
          <a:prstGeom prst="line">
            <a:avLst/>
          </a:prstGeom>
          <a:noFill/>
          <a:ln w="15875">
            <a:solidFill>
              <a:srgbClr val="B64B3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96412" y="2614030"/>
            <a:ext cx="146304" cy="146304"/>
          </a:xfrm>
          <a:prstGeom prst="ellipse">
            <a:avLst/>
          </a:prstGeom>
          <a:solidFill>
            <a:srgbClr val="B64B35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69564" y="2769478"/>
            <a:ext cx="0" cy="2085986"/>
          </a:xfrm>
          <a:prstGeom prst="line">
            <a:avLst/>
          </a:prstGeom>
          <a:noFill/>
          <a:ln w="10160">
            <a:solidFill>
              <a:srgbClr val="B64B35">
                <a:alpha val="7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58668" y="2367142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B64B35"/>
                </a:solidFill>
              </a:rPr>
              <a:t>452</a:t>
            </a:r>
            <a:endParaRPr lang="en-US" sz="1140" dirty="0"/>
          </a:p>
        </p:txBody>
      </p:sp>
      <p:sp>
        <p:nvSpPr>
          <p:cNvPr id="22" name="Text 20"/>
          <p:cNvSpPr/>
          <p:nvPr/>
        </p:nvSpPr>
        <p:spPr>
          <a:xfrm>
            <a:off x="2930652" y="497433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2023</a:t>
            </a: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3369564" y="2687182"/>
            <a:ext cx="1090422" cy="-220666"/>
          </a:xfrm>
          <a:prstGeom prst="line">
            <a:avLst/>
          </a:prstGeom>
          <a:noFill/>
          <a:ln w="15875">
            <a:solidFill>
              <a:srgbClr val="B64B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6834" y="2393365"/>
            <a:ext cx="146304" cy="146304"/>
          </a:xfrm>
          <a:prstGeom prst="ellipse">
            <a:avLst/>
          </a:prstGeom>
          <a:solidFill>
            <a:srgbClr val="B64B35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59986" y="2548813"/>
            <a:ext cx="0" cy="2306651"/>
          </a:xfrm>
          <a:prstGeom prst="line">
            <a:avLst/>
          </a:prstGeom>
          <a:noFill/>
          <a:ln w="10160">
            <a:solidFill>
              <a:srgbClr val="B64B35">
                <a:alpha val="7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49090" y="2146477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B64B35"/>
                </a:solidFill>
              </a:rPr>
              <a:t>498</a:t>
            </a:r>
            <a:endParaRPr lang="en-US" sz="1140" dirty="0"/>
          </a:p>
        </p:txBody>
      </p:sp>
      <p:sp>
        <p:nvSpPr>
          <p:cNvPr id="27" name="Text 25"/>
          <p:cNvSpPr/>
          <p:nvPr/>
        </p:nvSpPr>
        <p:spPr>
          <a:xfrm>
            <a:off x="4021074" y="497433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2024-25</a:t>
            </a:r>
            <a:endParaRPr lang="en-US" sz="730" dirty="0"/>
          </a:p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Wyoming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4459986" y="2466517"/>
            <a:ext cx="1090422" cy="-609230"/>
          </a:xfrm>
          <a:prstGeom prst="line">
            <a:avLst/>
          </a:prstGeom>
          <a:noFill/>
          <a:ln w="15875">
            <a:solidFill>
              <a:srgbClr val="B64B3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77256" y="1784135"/>
            <a:ext cx="146304" cy="146304"/>
          </a:xfrm>
          <a:prstGeom prst="ellipse">
            <a:avLst/>
          </a:prstGeom>
          <a:solidFill>
            <a:srgbClr val="963927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550408" y="1939583"/>
            <a:ext cx="0" cy="2915881"/>
          </a:xfrm>
          <a:prstGeom prst="line">
            <a:avLst/>
          </a:prstGeom>
          <a:noFill/>
          <a:ln w="10160">
            <a:solidFill>
              <a:srgbClr val="963927">
                <a:alpha val="7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39512" y="1537247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963927"/>
                </a:solidFill>
              </a:rPr>
              <a:t>625</a:t>
            </a:r>
            <a:endParaRPr lang="en-US" sz="1140" dirty="0"/>
          </a:p>
        </p:txBody>
      </p:sp>
      <p:sp>
        <p:nvSpPr>
          <p:cNvPr id="32" name="Text 30"/>
          <p:cNvSpPr/>
          <p:nvPr/>
        </p:nvSpPr>
        <p:spPr>
          <a:xfrm>
            <a:off x="5111496" y="497433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2025-26*</a:t>
            </a:r>
            <a:endParaRPr lang="en-US" sz="730" dirty="0"/>
          </a:p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Wyoming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263640" y="1170432"/>
            <a:ext cx="5257800" cy="434340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56248" y="1371600"/>
            <a:ext cx="4690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18282D"/>
                </a:solidFill>
              </a:rPr>
              <a:t>Total ADTs, plus 2026 inbound-only floor</a:t>
            </a:r>
            <a:endParaRPr lang="en-US" sz="1130" dirty="0"/>
          </a:p>
        </p:txBody>
      </p:sp>
      <p:sp>
        <p:nvSpPr>
          <p:cNvPr id="35" name="Shape 33"/>
          <p:cNvSpPr/>
          <p:nvPr/>
        </p:nvSpPr>
        <p:spPr>
          <a:xfrm>
            <a:off x="6793992" y="4855464"/>
            <a:ext cx="4361688" cy="0"/>
          </a:xfrm>
          <a:prstGeom prst="line">
            <a:avLst/>
          </a:prstGeom>
          <a:noFill/>
          <a:ln w="12700">
            <a:solidFill>
              <a:srgbClr val="C7D0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93992" y="3761729"/>
            <a:ext cx="4361688" cy="0"/>
          </a:xfrm>
          <a:prstGeom prst="line">
            <a:avLst/>
          </a:prstGeom>
          <a:noFill/>
          <a:ln w="10160">
            <a:solidFill>
              <a:srgbClr val="6571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39712" y="3560561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57175"/>
                </a:solidFill>
              </a:rPr>
              <a:t>1994 total baseline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6720840" y="3688577"/>
            <a:ext cx="146304" cy="146304"/>
          </a:xfrm>
          <a:prstGeom prst="ellipse">
            <a:avLst/>
          </a:prstGeom>
          <a:solidFill>
            <a:srgbClr val="657175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93992" y="3844025"/>
            <a:ext cx="0" cy="1011439"/>
          </a:xfrm>
          <a:prstGeom prst="line">
            <a:avLst/>
          </a:prstGeom>
          <a:noFill/>
          <a:ln w="10160">
            <a:solidFill>
              <a:srgbClr val="657175">
                <a:alpha val="75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83096" y="3441689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657175"/>
                </a:solidFill>
              </a:rPr>
              <a:t>456</a:t>
            </a:r>
            <a:endParaRPr lang="en-US" sz="1140" dirty="0"/>
          </a:p>
        </p:txBody>
      </p:sp>
      <p:sp>
        <p:nvSpPr>
          <p:cNvPr id="41" name="Text 39"/>
          <p:cNvSpPr/>
          <p:nvPr/>
        </p:nvSpPr>
        <p:spPr>
          <a:xfrm>
            <a:off x="6355080" y="497433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1994</a:t>
            </a:r>
            <a:endParaRPr lang="en-US" sz="730" dirty="0"/>
          </a:p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total</a:t>
            </a:r>
            <a:endParaRPr lang="en-US" sz="730" dirty="0"/>
          </a:p>
        </p:txBody>
      </p:sp>
      <p:sp>
        <p:nvSpPr>
          <p:cNvPr id="42" name="Shape 40"/>
          <p:cNvSpPr/>
          <p:nvPr/>
        </p:nvSpPr>
        <p:spPr>
          <a:xfrm>
            <a:off x="6793992" y="3761729"/>
            <a:ext cx="1090422" cy="-443730"/>
          </a:xfrm>
          <a:prstGeom prst="line">
            <a:avLst/>
          </a:prstGeom>
          <a:noFill/>
          <a:ln w="15875">
            <a:solidFill>
              <a:srgbClr val="B64B3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11262" y="3244847"/>
            <a:ext cx="146304" cy="146304"/>
          </a:xfrm>
          <a:prstGeom prst="ellipse">
            <a:avLst/>
          </a:prstGeom>
          <a:solidFill>
            <a:srgbClr val="288B8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884414" y="3400295"/>
            <a:ext cx="0" cy="1455169"/>
          </a:xfrm>
          <a:prstGeom prst="line">
            <a:avLst/>
          </a:prstGeom>
          <a:noFill/>
          <a:ln w="10160">
            <a:solidFill>
              <a:srgbClr val="288B8F">
                <a:alpha val="75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573518" y="2997959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288B8F"/>
                </a:solidFill>
              </a:rPr>
              <a:t>641</a:t>
            </a:r>
            <a:endParaRPr lang="en-US" sz="1140" dirty="0"/>
          </a:p>
        </p:txBody>
      </p:sp>
      <p:sp>
        <p:nvSpPr>
          <p:cNvPr id="46" name="Text 44"/>
          <p:cNvSpPr/>
          <p:nvPr/>
        </p:nvSpPr>
        <p:spPr>
          <a:xfrm>
            <a:off x="7445502" y="497433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2019-22</a:t>
            </a:r>
            <a:endParaRPr lang="en-US" sz="730" dirty="0"/>
          </a:p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avg</a:t>
            </a:r>
            <a:endParaRPr lang="en-US" sz="730" dirty="0"/>
          </a:p>
        </p:txBody>
      </p:sp>
      <p:sp>
        <p:nvSpPr>
          <p:cNvPr id="47" name="Shape 45"/>
          <p:cNvSpPr/>
          <p:nvPr/>
        </p:nvSpPr>
        <p:spPr>
          <a:xfrm>
            <a:off x="7884414" y="3317999"/>
            <a:ext cx="1090422" cy="-211072"/>
          </a:xfrm>
          <a:prstGeom prst="line">
            <a:avLst/>
          </a:prstGeom>
          <a:noFill/>
          <a:ln w="15875">
            <a:solidFill>
              <a:srgbClr val="B64B3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901684" y="3033775"/>
            <a:ext cx="146304" cy="146304"/>
          </a:xfrm>
          <a:prstGeom prst="ellipse">
            <a:avLst/>
          </a:prstGeom>
          <a:solidFill>
            <a:srgbClr val="B64B35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74836" y="3189223"/>
            <a:ext cx="0" cy="1666241"/>
          </a:xfrm>
          <a:prstGeom prst="line">
            <a:avLst/>
          </a:prstGeom>
          <a:noFill/>
          <a:ln w="10160">
            <a:solidFill>
              <a:srgbClr val="B64B35">
                <a:alpha val="7500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663940" y="2786887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B64B35"/>
                </a:solidFill>
              </a:rPr>
              <a:t>729</a:t>
            </a:r>
            <a:endParaRPr lang="en-US" sz="1140" dirty="0"/>
          </a:p>
        </p:txBody>
      </p:sp>
      <p:sp>
        <p:nvSpPr>
          <p:cNvPr id="51" name="Text 49"/>
          <p:cNvSpPr/>
          <p:nvPr/>
        </p:nvSpPr>
        <p:spPr>
          <a:xfrm>
            <a:off x="8535924" y="497433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2023</a:t>
            </a:r>
            <a:endParaRPr lang="en-US" sz="730" dirty="0"/>
          </a:p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calc.</a:t>
            </a:r>
            <a:endParaRPr lang="en-US" sz="730" dirty="0"/>
          </a:p>
        </p:txBody>
      </p:sp>
      <p:sp>
        <p:nvSpPr>
          <p:cNvPr id="52" name="Shape 50"/>
          <p:cNvSpPr/>
          <p:nvPr/>
        </p:nvSpPr>
        <p:spPr>
          <a:xfrm>
            <a:off x="8974836" y="3106927"/>
            <a:ext cx="1090422" cy="-1328792"/>
          </a:xfrm>
          <a:prstGeom prst="line">
            <a:avLst/>
          </a:prstGeom>
          <a:noFill/>
          <a:ln w="15875">
            <a:solidFill>
              <a:srgbClr val="B64B3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992106" y="1704983"/>
            <a:ext cx="146304" cy="146304"/>
          </a:xfrm>
          <a:prstGeom prst="ellipse">
            <a:avLst/>
          </a:prstGeom>
          <a:solidFill>
            <a:srgbClr val="963927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065258" y="1860431"/>
            <a:ext cx="0" cy="2995033"/>
          </a:xfrm>
          <a:prstGeom prst="line">
            <a:avLst/>
          </a:prstGeom>
          <a:noFill/>
          <a:ln w="10160">
            <a:solidFill>
              <a:srgbClr val="963927">
                <a:alpha val="75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754362" y="1458095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963927"/>
                </a:solidFill>
              </a:rPr>
              <a:t>1,283</a:t>
            </a:r>
            <a:endParaRPr lang="en-US" sz="1140" dirty="0"/>
          </a:p>
        </p:txBody>
      </p:sp>
      <p:sp>
        <p:nvSpPr>
          <p:cNvPr id="56" name="Text 54"/>
          <p:cNvSpPr/>
          <p:nvPr/>
        </p:nvSpPr>
        <p:spPr>
          <a:xfrm>
            <a:off x="9626346" y="497433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June</a:t>
            </a:r>
            <a:endParaRPr lang="en-US" sz="730" dirty="0"/>
          </a:p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2023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11082528" y="3283224"/>
            <a:ext cx="146304" cy="146304"/>
          </a:xfrm>
          <a:prstGeom prst="ellipse">
            <a:avLst/>
          </a:prstGeom>
          <a:solidFill>
            <a:srgbClr val="963927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155680" y="3438672"/>
            <a:ext cx="0" cy="1416792"/>
          </a:xfrm>
          <a:prstGeom prst="line">
            <a:avLst/>
          </a:prstGeom>
          <a:noFill/>
          <a:ln w="10160">
            <a:solidFill>
              <a:srgbClr val="963927">
                <a:alpha val="7500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844784" y="3036336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963927"/>
                </a:solidFill>
              </a:rPr>
              <a:t>625</a:t>
            </a:r>
            <a:endParaRPr lang="en-US" sz="1140" dirty="0"/>
          </a:p>
        </p:txBody>
      </p:sp>
      <p:sp>
        <p:nvSpPr>
          <p:cNvPr id="60" name="Text 58"/>
          <p:cNvSpPr/>
          <p:nvPr/>
        </p:nvSpPr>
        <p:spPr>
          <a:xfrm>
            <a:off x="10716768" y="497433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2025-26*</a:t>
            </a:r>
            <a:endParaRPr lang="en-US" sz="730" dirty="0"/>
          </a:p>
          <a:p>
            <a:pPr algn="ctr" indent="0" marL="0">
              <a:buNone/>
            </a:pPr>
            <a:r>
              <a:rPr lang="en-US" sz="730" dirty="0">
                <a:solidFill>
                  <a:srgbClr val="2F3A3D"/>
                </a:solidFill>
              </a:rPr>
              <a:t>inbound floor</a:t>
            </a:r>
            <a:endParaRPr lang="en-US" sz="730" dirty="0"/>
          </a:p>
        </p:txBody>
      </p:sp>
      <p:sp>
        <p:nvSpPr>
          <p:cNvPr id="61" name="Text 59"/>
          <p:cNvSpPr/>
          <p:nvPr/>
        </p:nvSpPr>
        <p:spPr>
          <a:xfrm>
            <a:off x="960120" y="5650992"/>
            <a:ext cx="10012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8282D"/>
                </a:solidFill>
              </a:rPr>
              <a:t>The right-hand 2026 point is not total traffic. It is Wyoming limestone alone. Even that inbound-only floor exceeds the entire 1994 plant baseline.</a:t>
            </a:r>
            <a:endParaRPr lang="en-US" sz="1220" dirty="0"/>
          </a:p>
        </p:txBody>
      </p:sp>
      <p:sp>
        <p:nvSpPr>
          <p:cNvPr id="62" name="Shape 6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8282D"/>
          </a:solidFill>
          <a:ln w="12700">
            <a:solidFill>
              <a:srgbClr val="18282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11480" y="6537960"/>
            <a:ext cx="10744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DCE4DF"/>
                </a:solidFill>
              </a:rPr>
              <a:t>Sources: CEMEX Historical Data.xlsx, Data Dec18 rows 3, 5, 6, 7; PT0658 annual reports; PT0658_Wyoming_Traffic_Calculations.csv. *2025-26 report is marked under review.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11503152" y="652881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CE4DF"/>
                </a:solidFill>
              </a:rPr>
              <a:t>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0116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spc="60" kern="0" dirty="0">
                <a:solidFill>
                  <a:srgbClr val="116B74"/>
                </a:solidFill>
              </a:rPr>
              <a:t>THE DECISIVE NUMBERS</a:t>
            </a:r>
            <a:endParaRPr lang="en-US" sz="68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9875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82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comparison wins the case.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07008"/>
            <a:ext cx="3291840" cy="3977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34840" y="1207008"/>
            <a:ext cx="3291840" cy="3977640"/>
          </a:xfrm>
          <a:prstGeom prst="rect">
            <a:avLst/>
          </a:prstGeom>
          <a:solidFill>
            <a:srgbClr val="122126"/>
          </a:solidFill>
          <a:ln w="10160">
            <a:solidFill>
              <a:srgbClr val="1221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1207008"/>
            <a:ext cx="3291840" cy="3977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874520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6571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54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87552" y="2404872"/>
            <a:ext cx="2697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2F3A3D"/>
                </a:solidFill>
              </a:rPr>
              <a:t>1994 inbound raw-material ADTs</a:t>
            </a:r>
            <a:endParaRPr lang="en-US" sz="920" dirty="0"/>
          </a:p>
        </p:txBody>
      </p:sp>
      <p:sp>
        <p:nvSpPr>
          <p:cNvPr id="9" name="Text 7"/>
          <p:cNvSpPr/>
          <p:nvPr/>
        </p:nvSpPr>
        <p:spPr>
          <a:xfrm>
            <a:off x="4736592" y="1874520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D89B3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625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736592" y="2404872"/>
            <a:ext cx="2697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DCE5E1"/>
                </a:solidFill>
              </a:rPr>
              <a:t>2025-26 Wyoming limestone ADTs*</a:t>
            </a:r>
            <a:endParaRPr lang="en-US" sz="920" dirty="0"/>
          </a:p>
        </p:txBody>
      </p:sp>
      <p:sp>
        <p:nvSpPr>
          <p:cNvPr id="11" name="Text 9"/>
          <p:cNvSpPr/>
          <p:nvPr/>
        </p:nvSpPr>
        <p:spPr>
          <a:xfrm>
            <a:off x="8485632" y="1874520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6571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456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8485632" y="2404872"/>
            <a:ext cx="2697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2F3A3D"/>
                </a:solidFill>
              </a:rPr>
              <a:t>entire 1994 plant total ADTs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987552" y="379476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8282D"/>
                </a:solidFill>
              </a:rPr>
              <a:t>Wyoming limestone alone is about 11.6x the 1994 inbound baseline.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4754880" y="370332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4EEE4"/>
                </a:solidFill>
              </a:rPr>
              <a:t>That number is before shale, finished product, employees, vendors, or any other plant traffic.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8449056" y="37307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8282D"/>
                </a:solidFill>
              </a:rPr>
              <a:t>The inbound-only 2026 floor is already higher than the 1994 total plant baseline.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960120" y="5559552"/>
            <a:ext cx="10058400" cy="475488"/>
          </a:xfrm>
          <a:prstGeom prst="rect">
            <a:avLst/>
          </a:prstGeom>
          <a:solidFill>
            <a:srgbClr val="F2F5F0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5559552"/>
            <a:ext cx="128016" cy="475488"/>
          </a:xfrm>
          <a:prstGeom prst="rect">
            <a:avLst/>
          </a:prstGeom>
          <a:solidFill>
            <a:srgbClr val="963927"/>
          </a:solidFill>
          <a:ln w="12700">
            <a:solidFill>
              <a:srgbClr val="9639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4440" y="5641848"/>
            <a:ext cx="9646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8282D"/>
                </a:solidFill>
              </a:rPr>
              <a:t>Dale Case's no-increase premise cannot survive the 2026 PT0658 math.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8282D"/>
          </a:solidFill>
          <a:ln w="12700">
            <a:solidFill>
              <a:srgbClr val="1828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6537960"/>
            <a:ext cx="10744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DCE4DF"/>
                </a:solidFill>
              </a:rPr>
              <a:t>Sources: CEMEX Historical Data.xlsx, Data Dec18 row 3; PT0658 annual reports; PT0658_Wyoming_Traffic_Calculations.csv. *2025-26 report is marked under review.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11503152" y="652881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CE4DF"/>
                </a:solidFill>
              </a:rPr>
              <a:t>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0116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spc="60" kern="0" dirty="0">
                <a:solidFill>
                  <a:srgbClr val="116B74"/>
                </a:solidFill>
              </a:rPr>
              <a:t>CEMEX'S DEFENSES</a:t>
            </a:r>
            <a:endParaRPr lang="en-US" sz="68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9875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82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defenses are distractions from the changed operation.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4892040" cy="1572768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1463040"/>
            <a:ext cx="1536192" cy="310896"/>
          </a:xfrm>
          <a:prstGeom prst="roundRect">
            <a:avLst>
              <a:gd name="adj" fmla="val 14706"/>
            </a:avLst>
          </a:prstGeom>
          <a:solidFill>
            <a:srgbClr val="657175"/>
          </a:solidFill>
          <a:ln w="12700">
            <a:solidFill>
              <a:srgbClr val="6571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1545336"/>
            <a:ext cx="13533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</a:rPr>
              <a:t>Background traffic</a:t>
            </a:r>
            <a:endParaRPr lang="en-US" sz="740" dirty="0"/>
          </a:p>
        </p:txBody>
      </p:sp>
      <p:sp>
        <p:nvSpPr>
          <p:cNvPr id="7" name="Text 5"/>
          <p:cNvSpPr/>
          <p:nvPr/>
        </p:nvSpPr>
        <p:spPr>
          <a:xfrm>
            <a:off x="2743200" y="1527048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8282D"/>
                </a:solidFill>
              </a:rPr>
              <a:t>SH-66 background volumes do not answer the question: what traffic did CEMEX itself generate?</a:t>
            </a:r>
            <a:endParaRPr lang="en-US" sz="122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4892040" cy="1572768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19672" y="1463040"/>
            <a:ext cx="1536192" cy="310896"/>
          </a:xfrm>
          <a:prstGeom prst="roundRect">
            <a:avLst>
              <a:gd name="adj" fmla="val 14706"/>
            </a:avLst>
          </a:prstGeom>
          <a:solidFill>
            <a:srgbClr val="B64B35"/>
          </a:solidFill>
          <a:ln w="12700">
            <a:solidFill>
              <a:srgbClr val="B64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11112" y="1545336"/>
            <a:ext cx="13533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</a:rPr>
              <a:t>Landis report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8275320" y="1527048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8282D"/>
                </a:solidFill>
              </a:rPr>
              <a:t>It mixes units, omits 1994, relies on weak regression, and ignores the actual inbound trend.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731520" y="3520440"/>
            <a:ext cx="4892040" cy="1572768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7552" y="3749040"/>
            <a:ext cx="1536192" cy="310896"/>
          </a:xfrm>
          <a:prstGeom prst="roundRect">
            <a:avLst>
              <a:gd name="adj" fmla="val 14706"/>
            </a:avLst>
          </a:prstGeom>
          <a:solidFill>
            <a:srgbClr val="657175"/>
          </a:solidFill>
          <a:ln w="12700">
            <a:solidFill>
              <a:srgbClr val="6571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3831336"/>
            <a:ext cx="13533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</a:rPr>
              <a:t>Stantec backpedal</a:t>
            </a:r>
            <a:endParaRPr lang="en-US" sz="740" dirty="0"/>
          </a:p>
        </p:txBody>
      </p:sp>
      <p:sp>
        <p:nvSpPr>
          <p:cNvPr id="15" name="Text 13"/>
          <p:cNvSpPr/>
          <p:nvPr/>
        </p:nvSpPr>
        <p:spPr>
          <a:xfrm>
            <a:off x="2743200" y="3813048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8282D"/>
                </a:solidFill>
              </a:rPr>
              <a:t>CEMEX submitted the study to CDOT. A later memo cannot erase the observed June 2023 spike.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6263640" y="3520440"/>
            <a:ext cx="4892040" cy="1572768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19672" y="3749040"/>
            <a:ext cx="1536192" cy="310896"/>
          </a:xfrm>
          <a:prstGeom prst="roundRect">
            <a:avLst>
              <a:gd name="adj" fmla="val 14706"/>
            </a:avLst>
          </a:prstGeom>
          <a:solidFill>
            <a:srgbClr val="B64B35"/>
          </a:solidFill>
          <a:ln w="12700">
            <a:solidFill>
              <a:srgbClr val="B64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11112" y="3831336"/>
            <a:ext cx="13533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</a:rPr>
              <a:t>Estoppel / takings</a:t>
            </a:r>
            <a:endParaRPr lang="en-US" sz="740" dirty="0"/>
          </a:p>
        </p:txBody>
      </p:sp>
      <p:sp>
        <p:nvSpPr>
          <p:cNvPr id="19" name="Text 17"/>
          <p:cNvSpPr/>
          <p:nvPr/>
        </p:nvSpPr>
        <p:spPr>
          <a:xfrm>
            <a:off x="8275320" y="3813048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8282D"/>
                </a:solidFill>
              </a:rPr>
              <a:t>The 2002 letter preserved only lawful nonconforming status. CEMEX never had a right to expand it.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987552" y="5623560"/>
            <a:ext cx="9966960" cy="457200"/>
          </a:xfrm>
          <a:prstGeom prst="rect">
            <a:avLst/>
          </a:prstGeom>
          <a:solidFill>
            <a:srgbClr val="F2F5F0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87552" y="5623560"/>
            <a:ext cx="128016" cy="457200"/>
          </a:xfrm>
          <a:prstGeom prst="rect">
            <a:avLst/>
          </a:prstGeom>
          <a:solidFill>
            <a:srgbClr val="963927"/>
          </a:solidFill>
          <a:ln w="12700">
            <a:solidFill>
              <a:srgbClr val="9639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61872" y="5705856"/>
            <a:ext cx="9555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8282D"/>
                </a:solidFill>
              </a:rPr>
              <a:t>A rescission should not rest on excuses that do not confront the central fact: CEMEX replaced local supply with heavy truck deliveries.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8282D"/>
          </a:solidFill>
          <a:ln w="12700">
            <a:solidFill>
              <a:srgbClr val="1828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6537960"/>
            <a:ext cx="10744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DCE4DF"/>
                </a:solidFill>
              </a:rPr>
              <a:t>Sources: Silvestro letters, July 9 and Dec. 20, 2024; CEMEX Historical Data.xlsx, Landis Flaws; Boulder County Oct. 8, 2002 letter; Landis and Stantec materials.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11503152" y="652881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CE4DF"/>
                </a:solidFill>
              </a:rPr>
              <a:t>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0116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spc="60" kern="0" dirty="0">
                <a:solidFill>
                  <a:srgbClr val="116B74"/>
                </a:solidFill>
              </a:rPr>
              <a:t>THE LAW</a:t>
            </a:r>
            <a:endParaRPr lang="en-US" sz="68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9875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82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legal rule fits the facts.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143000"/>
            <a:ext cx="5257800" cy="4434840"/>
          </a:xfrm>
          <a:prstGeom prst="rect">
            <a:avLst/>
          </a:prstGeom>
          <a:solidFill>
            <a:srgbClr val="122126"/>
          </a:solidFill>
          <a:ln w="10160">
            <a:solidFill>
              <a:srgbClr val="1221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4813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Article 4-1003.C.1.d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024128" y="2048256"/>
            <a:ext cx="39776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4EEE4"/>
                </a:solidFill>
              </a:rPr>
              <a:t>A nonconforming use loses protection for any alteration that creates or threatens hazard or nuisance, adversely affects neighborhood character, or intensifies the use or need for services.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024128" y="3657600"/>
            <a:ext cx="3931920" cy="0"/>
          </a:xfrm>
          <a:prstGeom prst="line">
            <a:avLst/>
          </a:prstGeom>
          <a:noFill/>
          <a:ln w="13970">
            <a:solidFill>
              <a:srgbClr val="6C7B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4059936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CE5E1"/>
                </a:solidFill>
              </a:rPr>
              <a:t>Article 4-1003.H.1 puts the burden on CEMEX to show it has not unlawfully altered or expanded the use.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1143000"/>
            <a:ext cx="5074920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93408" y="1481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8282D"/>
                </a:solidFill>
              </a:rPr>
              <a:t>Trial-lawyer translation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766560" y="1993392"/>
            <a:ext cx="3566160" cy="1600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220" dirty="0">
                <a:solidFill>
                  <a:srgbClr val="18282D"/>
                </a:solidFill>
              </a:rPr>
              <a:t>The altered use is the new feedstock logistics.</a:t>
            </a:r>
            <a:endParaRPr lang="en-US" sz="1220" dirty="0"/>
          </a:p>
          <a:p>
            <a:pPr marL="152400" indent="-152400">
              <a:buSzPct val="100000"/>
              <a:buChar char="•"/>
            </a:pPr>
            <a:r>
              <a:rPr lang="en-US" sz="1220" dirty="0">
                <a:solidFill>
                  <a:srgbClr val="18282D"/>
                </a:solidFill>
              </a:rPr>
              <a:t>The truck traffic is the evidence and consequence.</a:t>
            </a:r>
            <a:endParaRPr lang="en-US" sz="1220" dirty="0"/>
          </a:p>
          <a:p>
            <a:pPr marL="152400" indent="-152400">
              <a:buSzPct val="100000"/>
              <a:buChar char="•"/>
            </a:pPr>
            <a:r>
              <a:rPr lang="en-US" sz="1220" dirty="0">
                <a:solidFill>
                  <a:srgbClr val="18282D"/>
                </a:solidFill>
              </a:rPr>
              <a:t>The 1994 baseline does not protect a materially different operation.</a:t>
            </a:r>
            <a:endParaRPr lang="en-US" sz="1220" dirty="0"/>
          </a:p>
          <a:p>
            <a:pPr marL="152400" indent="-152400">
              <a:buSzPct val="100000"/>
              <a:buChar char="•"/>
            </a:pPr>
            <a:r>
              <a:rPr lang="en-US" sz="1220" dirty="0">
                <a:solidFill>
                  <a:srgbClr val="18282D"/>
                </a:solidFill>
              </a:rPr>
              <a:t>The County may reverse the rescission on corrected findings.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6720840" y="4498848"/>
            <a:ext cx="3429000" cy="438912"/>
          </a:xfrm>
          <a:prstGeom prst="rect">
            <a:avLst/>
          </a:prstGeom>
          <a:solidFill>
            <a:srgbClr val="F2F5F0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20840" y="4498848"/>
            <a:ext cx="128016" cy="438912"/>
          </a:xfrm>
          <a:prstGeom prst="rect">
            <a:avLst/>
          </a:prstGeom>
          <a:solidFill>
            <a:srgbClr val="B64B35"/>
          </a:solidFill>
          <a:ln w="12700">
            <a:solidFill>
              <a:srgbClr val="B64B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95160" y="45811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8282D"/>
                </a:solidFill>
              </a:rPr>
              <a:t>Silvestro's key point: CEMEX is wrong to limit the Code to onsite structural changes.</a:t>
            </a:r>
            <a:endParaRPr lang="en-US" sz="1180" dirty="0"/>
          </a:p>
        </p:txBody>
      </p:sp>
      <p:sp>
        <p:nvSpPr>
          <p:cNvPr id="15" name="Shape 1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8282D"/>
          </a:solidFill>
          <a:ln w="12700">
            <a:solidFill>
              <a:srgbClr val="1828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6537960"/>
            <a:ext cx="10744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DCE4DF"/>
                </a:solidFill>
              </a:rPr>
              <a:t>Sources: Boulder County Land Use Code Article 4-1003.C.1.d and H.1; Silvestro letters; Fire House Car Wash, 30 P.3d 762.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11503152" y="652881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CE4DF"/>
                </a:solidFill>
              </a:rPr>
              <a:t>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1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126"/>
          </a:solidFill>
          <a:ln w="12700">
            <a:solidFill>
              <a:srgbClr val="1221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1133856"/>
            <a:ext cx="10378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County should reverse the rescission.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49808" y="2852928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1E7D7"/>
                </a:solidFill>
              </a:rPr>
              <a:t>The corrected record shows a changed operation, dramatic raw-material truck traffic, and a flawed no-increase rationale. The April 10, 2024 termination should be reinstated or reissued with corrected findings.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8282D"/>
          </a:solidFill>
          <a:ln w="12700">
            <a:solidFill>
              <a:srgbClr val="1828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6537960"/>
            <a:ext cx="10744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DCE4DF"/>
                </a:solidFill>
              </a:rPr>
              <a:t>Requested action synthesized from ZON-23-0003 record, CEMEX Historical Data.xlsx, PT0658 annual reports, Silvestro letters, and Boulder County April 10, 2024 Notice.</a:t>
            </a:r>
            <a:endParaRPr lang="en-US" sz="680" dirty="0"/>
          </a:p>
        </p:txBody>
      </p:sp>
      <p:sp>
        <p:nvSpPr>
          <p:cNvPr id="7" name="Text 5"/>
          <p:cNvSpPr/>
          <p:nvPr/>
        </p:nvSpPr>
        <p:spPr>
          <a:xfrm>
            <a:off x="11503152" y="652881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CE4DF"/>
                </a:solidFill>
              </a:rPr>
              <a:t>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0116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spc="60" kern="0" dirty="0">
                <a:solidFill>
                  <a:srgbClr val="116B74"/>
                </a:solidFill>
              </a:rPr>
              <a:t>CORE EXHIBITS</a:t>
            </a:r>
            <a:endParaRPr lang="en-US" sz="68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9875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828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proof package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325880"/>
            <a:ext cx="489204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325880"/>
            <a:ext cx="128016" cy="1325880"/>
          </a:xfrm>
          <a:prstGeom prst="rect">
            <a:avLst/>
          </a:prstGeom>
          <a:solidFill>
            <a:srgbClr val="116B74"/>
          </a:solidFill>
          <a:ln w="12700">
            <a:solidFill>
              <a:srgbClr val="116B7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5544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82D"/>
                </a:solidFill>
              </a:rPr>
              <a:t>Traffic workbook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926080" y="1545336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F3A3D"/>
                </a:solidFill>
              </a:rPr>
              <a:t>CEMEX Historical Data.xlsx: Data Dec18, ADT summary, total ADTs, post-Dowe ADTs, Landis Flaws, Inbound Material Modes.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72200" y="1325880"/>
            <a:ext cx="489204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1325880"/>
            <a:ext cx="128016" cy="1325880"/>
          </a:xfrm>
          <a:prstGeom prst="rect">
            <a:avLst/>
          </a:prstGeom>
          <a:solidFill>
            <a:srgbClr val="963927"/>
          </a:solidFill>
          <a:ln w="12700">
            <a:solidFill>
              <a:srgbClr val="9639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5544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82D"/>
                </a:solidFill>
              </a:rPr>
              <a:t>Wyoming tonnage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21040" y="1545336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F3A3D"/>
                </a:solidFill>
              </a:rPr>
              <a:t>PT0658 annual reports and PT0658_Wyoming_Traffic_Calculations.csv.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3337560"/>
            <a:ext cx="489204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337560"/>
            <a:ext cx="128016" cy="1325880"/>
          </a:xfrm>
          <a:prstGeom prst="rect">
            <a:avLst/>
          </a:prstGeom>
          <a:solidFill>
            <a:srgbClr val="116B74"/>
          </a:solidFill>
          <a:ln w="12700">
            <a:solidFill>
              <a:srgbClr val="116B7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6616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82D"/>
                </a:solidFill>
              </a:rPr>
              <a:t>County record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926080" y="3557016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F3A3D"/>
                </a:solidFill>
              </a:rPr>
              <a:t>April 10, 2024 termination notice; Stantec and Landis materials; Boulder County 2002 letter.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72200" y="3337560"/>
            <a:ext cx="489204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3337560"/>
            <a:ext cx="128016" cy="1325880"/>
          </a:xfrm>
          <a:prstGeom prst="rect">
            <a:avLst/>
          </a:prstGeom>
          <a:solidFill>
            <a:srgbClr val="116B74"/>
          </a:solidFill>
          <a:ln w="12700">
            <a:solidFill>
              <a:srgbClr val="116B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56616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82D"/>
                </a:solidFill>
              </a:rPr>
              <a:t>Legal letters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21040" y="3557016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F3A3D"/>
                </a:solidFill>
              </a:rPr>
              <a:t>James R. Silvestro letters for GNL/SOSVV dated July 9, 2024 and December 20, 2024.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60120" y="5440680"/>
            <a:ext cx="10012680" cy="475488"/>
          </a:xfrm>
          <a:prstGeom prst="rect">
            <a:avLst/>
          </a:prstGeom>
          <a:solidFill>
            <a:srgbClr val="F2F5F0"/>
          </a:solidFill>
          <a:ln w="10160">
            <a:solidFill>
              <a:srgbClr val="C7D0C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5440680"/>
            <a:ext cx="128016" cy="475488"/>
          </a:xfrm>
          <a:prstGeom prst="rect">
            <a:avLst/>
          </a:prstGeom>
          <a:solidFill>
            <a:srgbClr val="116B74"/>
          </a:solidFill>
          <a:ln w="12700">
            <a:solidFill>
              <a:srgbClr val="116B7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34440" y="552297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8282D"/>
                </a:solidFill>
              </a:rPr>
              <a:t>Public-facing note: this is an advocacy synthesis. Attach the primary PDFs and workbook tables before any official filing.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8282D"/>
          </a:solidFill>
          <a:ln w="12700">
            <a:solidFill>
              <a:srgbClr val="1828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6537960"/>
            <a:ext cx="10744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DCE4DF"/>
                </a:solidFill>
              </a:rPr>
              <a:t>Selected sources from the local CEMEX Lyons public archive.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11503152" y="652881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CE4DF"/>
                </a:solidFill>
              </a:rPr>
              <a:t>9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Good Neighbors of Lyons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Reverse the CEMEX Lyons Rescission</dc:title>
  <dc:subject>Trial-style public brief to reverse CEMEX Lyons rescission</dc:subject>
  <dc:creator>Good Neighbors of Lyons / public document archive synthesis</dc:creator>
  <cp:lastModifiedBy>Good Neighbors of Lyons / public document archive synthesis</cp:lastModifiedBy>
  <cp:revision>1</cp:revision>
  <dcterms:created xsi:type="dcterms:W3CDTF">2026-06-21T11:18:25Z</dcterms:created>
  <dcterms:modified xsi:type="dcterms:W3CDTF">2026-06-21T11:18:25Z</dcterms:modified>
</cp:coreProperties>
</file>