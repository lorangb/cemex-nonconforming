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MiniExt/Projects/cemex-nonconforming/CEMEX-Repo-v2/Images/cemex_lyons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126">
              <a:alpha val="88000"/>
            </a:srgbClr>
          </a:solidFill>
          <a:ln w="12700">
            <a:solidFill>
              <a:srgbClr val="12212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566928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B64B35"/>
          </a:solidFill>
          <a:ln w="12700">
            <a:solidFill>
              <a:srgbClr val="B64B3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7512" y="649224"/>
            <a:ext cx="1490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TARGETED PUBLIC BRIEF</a:t>
            </a:r>
            <a:endParaRPr lang="en-US" sz="740" dirty="0"/>
          </a:p>
        </p:txBody>
      </p:sp>
      <p:sp>
        <p:nvSpPr>
          <p:cNvPr id="6" name="Text 3"/>
          <p:cNvSpPr/>
          <p:nvPr/>
        </p:nvSpPr>
        <p:spPr>
          <a:xfrm>
            <a:off x="566928" y="105156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the Rescission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03504" y="19202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2EEE5"/>
                </a:solidFill>
              </a:rPr>
              <a:t>The 1994 traffic comparison does not support Dale Case's conclusion that CEMEX Lyons traffic has not increased.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3504" y="30632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DE5E0"/>
                </a:solidFill>
              </a:rPr>
              <a:t>A narrower, fact-centered brief for reinstating the April 10, 2024 termination determination.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603504" y="6272784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DD8D2"/>
                </a:solidFill>
              </a:rPr>
              <a:t>Prepared from the CEMEX Lyons public archive. Verify against original records before official filing.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THESIS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Accept the 1994 comparison for argument's sake. It still favors termination.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08356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18872" cy="822960"/>
          </a:xfrm>
          <a:prstGeom prst="rect">
            <a:avLst/>
          </a:prstGeom>
          <a:solidFill>
            <a:srgbClr val="B64B35"/>
          </a:solidFill>
          <a:ln w="12700">
            <a:solidFill>
              <a:srgbClr val="B64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307592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82D"/>
                </a:solidFill>
              </a:rPr>
              <a:t>The rescission rationale should fail on its own chosen ground: when traffic is normalized as Average Daily Trips in passenger-car equivalents, modern CEMEX traffic is materially higher than the 1994 baseline.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571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456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22960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A3D"/>
                </a:solidFill>
              </a:rPr>
              <a:t>1994 baseline total ADTs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346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64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729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834640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A3D"/>
                </a:solidFill>
              </a:rPr>
              <a:t>2023 calculated total ADTs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64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+273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846320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A3D"/>
                </a:solidFill>
              </a:rPr>
              <a:t>increase vs 1994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64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+60%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858000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A3D"/>
                </a:solidFill>
              </a:rPr>
              <a:t>increase vs 1994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639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+397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869680" y="3236976"/>
            <a:ext cx="2057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A3D"/>
                </a:solidFill>
              </a:rPr>
              <a:t>inbound raw-material ADTs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4754880"/>
            <a:ext cx="1065276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882896"/>
            <a:ext cx="98755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18282D"/>
                </a:solidFill>
              </a:rPr>
              <a:t>The strongest evidence is not overall background traffic. It is CEMEX-generated traffic, especially raw-material deliveries caused by the loss of local/conveyor supply.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18282D"/>
                </a:solidFill>
              </a:rPr>
              <a:t>PT0658 Wyoming limestone tonnage confirms the magnitude: 518,482 tons in 2024-25 equals about 20,739 loaded 25-ton trucks, 41,479 truck movements, and 498 ADTs.</a:t>
            </a:r>
            <a:endParaRPr lang="en-US" sz="960" dirty="0"/>
          </a:p>
          <a:p>
            <a:pPr marL="152400" indent="-152400">
              <a:buSzPct val="100000"/>
              <a:buChar char="•"/>
            </a:pPr>
            <a:r>
              <a:rPr lang="en-US" sz="960" dirty="0">
                <a:solidFill>
                  <a:srgbClr val="18282D"/>
                </a:solidFill>
              </a:rPr>
              <a:t>The 1994 comparison is not a shield for CEMEX. Properly calculated, it is evidence that the use was altered and intensified.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CEMEX Historical Data.xlsx, Data Dec18 summary rows 3, 6, 7; PT0658 annual reports and PT0658_Wyoming_Traffic_Calculations.csv; Boulder County April 10, 2024 Notice.</a:t>
            </a:r>
            <a:endParaRPr lang="en-US" sz="670" dirty="0"/>
          </a:p>
        </p:txBody>
      </p:sp>
      <p:sp>
        <p:nvSpPr>
          <p:cNvPr id="21" name="Text 19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MEASUREMENT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right unit is ADTs in passenger-car equivalents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493776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630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8282D"/>
                </a:solidFill>
              </a:rPr>
              <a:t>Why Landis-style raw truck counts understate the impact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1938528"/>
            <a:ext cx="393192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82D"/>
                </a:solidFill>
              </a:rPr>
              <a:t>Boulder County and CDOT analyze access impacts as Average Daily Trips.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82D"/>
                </a:solidFill>
              </a:rPr>
              <a:t>A truck entering and leaving the plant creates two trips.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82D"/>
                </a:solidFill>
              </a:rPr>
              <a:t>A heavy truck is converted to passenger-car equivalents.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82D"/>
                </a:solidFill>
              </a:rPr>
              <a:t>One heavy-truck round trip can represent six ADTs under the workbook's normalization.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4224528"/>
            <a:ext cx="4069080" cy="621792"/>
          </a:xfrm>
          <a:prstGeom prst="rect">
            <a:avLst/>
          </a:prstGeom>
          <a:solidFill>
            <a:srgbClr val="F2F5F0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4224528"/>
            <a:ext cx="118872" cy="621792"/>
          </a:xfrm>
          <a:prstGeom prst="rect">
            <a:avLst/>
          </a:prstGeom>
          <a:solidFill>
            <a:srgbClr val="963927"/>
          </a:solidFill>
          <a:ln w="12700">
            <a:solidFill>
              <a:srgbClr val="9639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2976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82D"/>
                </a:solidFill>
              </a:rPr>
              <a:t>If Dale Case relied on unnormalized truck-volume comparisons, the conclusion is not comparing like with like.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143000"/>
            <a:ext cx="5257800" cy="4480560"/>
          </a:xfrm>
          <a:prstGeom prst="rect">
            <a:avLst/>
          </a:prstGeom>
          <a:solidFill>
            <a:srgbClr val="122126"/>
          </a:solidFill>
          <a:ln w="10160">
            <a:solidFill>
              <a:srgbClr val="1221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 simple formula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47104" y="212140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EE4"/>
                </a:solidFill>
              </a:rPr>
              <a:t>Annual truck volume / workdays x 2 trips x 3 PCE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537960" y="2926080"/>
            <a:ext cx="4114800" cy="0"/>
          </a:xfrm>
          <a:prstGeom prst="line">
            <a:avLst/>
          </a:prstGeom>
          <a:noFill/>
          <a:ln w="15240">
            <a:solidFill>
              <a:srgbClr val="6C7B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342900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CE5E1"/>
                </a:solidFill>
              </a:rPr>
              <a:t>Example from the Landis-flaws worksheet: 20,106 truck trips in 2023 divided by 251 workdays is about 80, not 67. Converted to ADTs, that is about 481, not 402.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CEMEX Historical Data.xlsx, Data Dec18 assumptions; Landis Flaws rows 5 and 12; Exhibit - Corrected Landis Repo.</a:t>
            </a:r>
            <a:endParaRPr lang="en-US" sz="670" dirty="0"/>
          </a:p>
        </p:txBody>
      </p:sp>
      <p:sp>
        <p:nvSpPr>
          <p:cNvPr id="17" name="Text 15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TOTAL TRAFFIC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CEMEX traffic is higher than the 1994 baseline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658368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4956048"/>
            <a:ext cx="5852160" cy="0"/>
          </a:xfrm>
          <a:prstGeom prst="line">
            <a:avLst/>
          </a:prstGeom>
          <a:noFill/>
          <a:ln w="12700">
            <a:solidFill>
              <a:srgbClr val="C7D0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9507" y="3865520"/>
            <a:ext cx="612282" cy="1090528"/>
          </a:xfrm>
          <a:prstGeom prst="rect">
            <a:avLst/>
          </a:prstGeom>
          <a:solidFill>
            <a:srgbClr val="657175"/>
          </a:solidFill>
          <a:ln w="12700">
            <a:solidFill>
              <a:srgbClr val="6571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6627" y="5074920"/>
            <a:ext cx="9780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1994 baseline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30051" y="3582056"/>
            <a:ext cx="1051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57175"/>
                </a:solidFill>
              </a:rPr>
              <a:t>456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83363" y="3423092"/>
            <a:ext cx="612282" cy="1532956"/>
          </a:xfrm>
          <a:prstGeom prst="rect">
            <a:avLst/>
          </a:prstGeom>
          <a:solidFill>
            <a:srgbClr val="288B8F"/>
          </a:solidFill>
          <a:ln w="12700">
            <a:solidFill>
              <a:srgbClr val="288B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0483" y="5074920"/>
            <a:ext cx="9780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2019-22 avg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363907" y="3139628"/>
            <a:ext cx="1051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8B8F"/>
                </a:solidFill>
              </a:rPr>
              <a:t>641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17219" y="3458964"/>
            <a:ext cx="612282" cy="1497084"/>
          </a:xfrm>
          <a:prstGeom prst="rect">
            <a:avLst/>
          </a:prstGeom>
          <a:solidFill>
            <a:srgbClr val="116B74"/>
          </a:solidFill>
          <a:ln w="12700">
            <a:solidFill>
              <a:srgbClr val="116B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4339" y="5074920"/>
            <a:ext cx="9780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Post-Dowe avg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97763" y="3175500"/>
            <a:ext cx="1051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6B74"/>
                </a:solidFill>
              </a:rPr>
              <a:t>626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51075" y="3212639"/>
            <a:ext cx="612282" cy="1743409"/>
          </a:xfrm>
          <a:prstGeom prst="rect">
            <a:avLst/>
          </a:prstGeom>
          <a:solidFill>
            <a:srgbClr val="B64B35"/>
          </a:solidFill>
          <a:ln w="12700">
            <a:solidFill>
              <a:srgbClr val="B64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8195" y="5074920"/>
            <a:ext cx="9780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2023 calc.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31619" y="2929175"/>
            <a:ext cx="1051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64B35"/>
                </a:solidFill>
              </a:rPr>
              <a:t>729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4931" y="1887744"/>
            <a:ext cx="612282" cy="3068304"/>
          </a:xfrm>
          <a:prstGeom prst="rect">
            <a:avLst/>
          </a:prstGeom>
          <a:solidFill>
            <a:srgbClr val="963927"/>
          </a:solidFill>
          <a:ln w="12700">
            <a:solidFill>
              <a:srgbClr val="9639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2051" y="5074920"/>
            <a:ext cx="9780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June 2023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765475" y="1604280"/>
            <a:ext cx="10511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63927"/>
                </a:solidFill>
              </a:rPr>
              <a:t>1,283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136245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282D"/>
                </a:solidFill>
              </a:rPr>
              <a:t>Total ADTs, normalized to passenger-car equivalents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1143000"/>
            <a:ext cx="374904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1481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282D"/>
                </a:solidFill>
              </a:rPr>
              <a:t>The no-increase premise fails several ways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28432" y="1920240"/>
            <a:ext cx="297180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8282D"/>
                </a:solidFill>
              </a:rPr>
              <a:t>2019-22 average is about 185 ADTs above 1994.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8282D"/>
                </a:solidFill>
              </a:rPr>
              <a:t>Post-Dowe actual monthly average is about 170 ADTs above 1994.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8282D"/>
                </a:solidFill>
              </a:rPr>
              <a:t>2023 calculated annual ADTs are about 273 above 1994.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8282D"/>
                </a:solidFill>
              </a:rPr>
              <a:t>The Stantec June 2023 figure is roughly 827 ADTs above 1994.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955280" y="4343400"/>
            <a:ext cx="2944368" cy="502920"/>
          </a:xfrm>
          <a:prstGeom prst="rect">
            <a:avLst/>
          </a:prstGeom>
          <a:solidFill>
            <a:srgbClr val="F2F5F0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4343400"/>
            <a:ext cx="118872" cy="502920"/>
          </a:xfrm>
          <a:prstGeom prst="rect">
            <a:avLst/>
          </a:prstGeom>
          <a:solidFill>
            <a:srgbClr val="B64B35"/>
          </a:solidFill>
          <a:ln w="12700">
            <a:solidFill>
              <a:srgbClr val="B64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4416552"/>
            <a:ext cx="2532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82D"/>
                </a:solidFill>
              </a:rPr>
              <a:t>Even a conservative 1994 baseline does not rescue the rescission.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CEMEX Historical Data.xlsx, Data Dec18 rows 3, 5, 6 and data table; Exhibit - Post Dowe Flats ADTs row 15; April 10, 2024 Notice citing Stantec June 2023.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RAW-MATERIAL DELIVERIES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operational-change evidence is much stronger than total traffic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658368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4956048"/>
            <a:ext cx="5852160" cy="0"/>
          </a:xfrm>
          <a:prstGeom prst="line">
            <a:avLst/>
          </a:prstGeom>
          <a:noFill/>
          <a:ln w="12700">
            <a:solidFill>
              <a:srgbClr val="C7D0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4704" y="4598848"/>
            <a:ext cx="765353" cy="357200"/>
          </a:xfrm>
          <a:prstGeom prst="rect">
            <a:avLst/>
          </a:prstGeom>
          <a:solidFill>
            <a:srgbClr val="657175"/>
          </a:solidFill>
          <a:ln w="12700">
            <a:solidFill>
              <a:srgbClr val="6571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1824" y="5074920"/>
            <a:ext cx="11311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1994 inbound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5248" y="4315384"/>
            <a:ext cx="12042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57175"/>
                </a:solidFill>
              </a:rPr>
              <a:t>54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32024" y="2931917"/>
            <a:ext cx="765353" cy="2024131"/>
          </a:xfrm>
          <a:prstGeom prst="rect">
            <a:avLst/>
          </a:prstGeom>
          <a:solidFill>
            <a:srgbClr val="288B8F"/>
          </a:solidFill>
          <a:ln w="12700">
            <a:solidFill>
              <a:srgbClr val="288B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9144" y="5074920"/>
            <a:ext cx="11311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2019-22 inbound avg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12568" y="2648453"/>
            <a:ext cx="12042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8B8F"/>
                </a:solidFill>
              </a:rPr>
              <a:t>306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9344" y="2832694"/>
            <a:ext cx="765353" cy="2123354"/>
          </a:xfrm>
          <a:prstGeom prst="rect">
            <a:avLst/>
          </a:prstGeom>
          <a:solidFill>
            <a:srgbClr val="116B74"/>
          </a:solidFill>
          <a:ln w="12700">
            <a:solidFill>
              <a:srgbClr val="116B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6464" y="5074920"/>
            <a:ext cx="11311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Post-Dowe inbound avg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29888" y="2549230"/>
            <a:ext cx="12042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6B74"/>
                </a:solidFill>
              </a:rPr>
              <a:t>321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66664" y="1966155"/>
            <a:ext cx="765353" cy="2989893"/>
          </a:xfrm>
          <a:prstGeom prst="rect">
            <a:avLst/>
          </a:prstGeom>
          <a:solidFill>
            <a:srgbClr val="963927"/>
          </a:solidFill>
          <a:ln w="12700">
            <a:solidFill>
              <a:srgbClr val="9639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83784" y="5074920"/>
            <a:ext cx="11311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2023 inbound calc.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47208" y="1682691"/>
            <a:ext cx="12042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63927"/>
                </a:solidFill>
              </a:rPr>
              <a:t>452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136245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282D"/>
                </a:solidFill>
              </a:rPr>
              <a:t>Inbound raw-material ADTs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35240" y="1143000"/>
            <a:ext cx="3749040" cy="4434840"/>
          </a:xfrm>
          <a:prstGeom prst="rect">
            <a:avLst/>
          </a:prstGeom>
          <a:solidFill>
            <a:srgbClr val="122126"/>
          </a:solidFill>
          <a:ln w="10160">
            <a:solidFill>
              <a:srgbClr val="1221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91856" y="1481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This is the case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0" y="19933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EEE4"/>
                </a:solidFill>
              </a:rPr>
              <a:t>In 1994, the record shows about 54 inbound raw-material ADTs. In 2023, the calculated inbound raw-material ADTs are about 452.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65008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89B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+397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065008" y="3922776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A3D"/>
                </a:solidFill>
              </a:rPr>
              <a:t>additional inbound ADTs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28048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89B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+729%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9528048" y="3922776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A3D"/>
                </a:solidFill>
              </a:rPr>
              <a:t>increase vs 1994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28432" y="47365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CE5E1"/>
                </a:solidFill>
              </a:rPr>
              <a:t>A traffic comparison that buries this change inside total plant operations misses the point of Article 4-1003.C.1.d.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CEMEX Historical Data.xlsx, Data Dec18 rows 3, 5, 6, 7; Exhibit - Post Dowe Flats ADTs row 15; Inbound Material Modes sheet.</a:t>
            </a:r>
            <a:endParaRPr lang="en-US" sz="670" dirty="0"/>
          </a:p>
        </p:txBody>
      </p:sp>
      <p:sp>
        <p:nvSpPr>
          <p:cNvPr id="29" name="Text 27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WYOMING PT0658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PT0658 tonnage turns the supply-chain change into truck traffic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690372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5020056"/>
            <a:ext cx="6172200" cy="0"/>
          </a:xfrm>
          <a:prstGeom prst="line">
            <a:avLst/>
          </a:prstGeom>
          <a:noFill/>
          <a:ln w="12700">
            <a:solidFill>
              <a:srgbClr val="C7D0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4072" y="3858311"/>
            <a:ext cx="462033" cy="1161745"/>
          </a:xfrm>
          <a:prstGeom prst="rect">
            <a:avLst/>
          </a:prstGeom>
          <a:solidFill>
            <a:srgbClr val="288B8F"/>
          </a:solidFill>
          <a:ln w="12700">
            <a:solidFill>
              <a:srgbClr val="288B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1192" y="5138928"/>
            <a:ext cx="827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2019-20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74616" y="3574847"/>
            <a:ext cx="9009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8B8F"/>
                </a:solidFill>
              </a:rPr>
              <a:t>236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49689" y="2922711"/>
            <a:ext cx="462033" cy="2097345"/>
          </a:xfrm>
          <a:prstGeom prst="rect">
            <a:avLst/>
          </a:prstGeom>
          <a:solidFill>
            <a:srgbClr val="288B8F"/>
          </a:solidFill>
          <a:ln w="12700">
            <a:solidFill>
              <a:srgbClr val="288B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6809" y="5138928"/>
            <a:ext cx="827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2020-21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930233" y="2639247"/>
            <a:ext cx="9009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8B8F"/>
                </a:solidFill>
              </a:rPr>
              <a:t>426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05306" y="2932657"/>
            <a:ext cx="462033" cy="2087399"/>
          </a:xfrm>
          <a:prstGeom prst="rect">
            <a:avLst/>
          </a:prstGeom>
          <a:solidFill>
            <a:srgbClr val="288B8F"/>
          </a:solidFill>
          <a:ln w="12700">
            <a:solidFill>
              <a:srgbClr val="288B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2426" y="5138928"/>
            <a:ext cx="827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2021-22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85850" y="2649193"/>
            <a:ext cx="9009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8B8F"/>
                </a:solidFill>
              </a:rPr>
              <a:t>424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60923" y="3579728"/>
            <a:ext cx="462033" cy="1440328"/>
          </a:xfrm>
          <a:prstGeom prst="rect">
            <a:avLst/>
          </a:prstGeom>
          <a:solidFill>
            <a:srgbClr val="288B8F"/>
          </a:solidFill>
          <a:ln w="12700">
            <a:solidFill>
              <a:srgbClr val="288B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8043" y="5138928"/>
            <a:ext cx="827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2022-23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41467" y="3296264"/>
            <a:ext cx="9009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8B8F"/>
                </a:solidFill>
              </a:rPr>
              <a:t>293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16541" y="4413063"/>
            <a:ext cx="462033" cy="606993"/>
          </a:xfrm>
          <a:prstGeom prst="rect">
            <a:avLst/>
          </a:prstGeom>
          <a:solidFill>
            <a:srgbClr val="288B8F"/>
          </a:solidFill>
          <a:ln w="12700">
            <a:solidFill>
              <a:srgbClr val="288B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3661" y="5138928"/>
            <a:ext cx="827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2023-24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97085" y="4129599"/>
            <a:ext cx="9009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8B8F"/>
                </a:solidFill>
              </a:rPr>
              <a:t>123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72158" y="2569337"/>
            <a:ext cx="462033" cy="2450719"/>
          </a:xfrm>
          <a:prstGeom prst="rect">
            <a:avLst/>
          </a:prstGeom>
          <a:solidFill>
            <a:srgbClr val="B64B35"/>
          </a:solidFill>
          <a:ln w="12700">
            <a:solidFill>
              <a:srgbClr val="B64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89278" y="5138928"/>
            <a:ext cx="827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2024-25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52702" y="2285873"/>
            <a:ext cx="9009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64B35"/>
                </a:solidFill>
              </a:rPr>
              <a:t>498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27775" y="1940680"/>
            <a:ext cx="462033" cy="3079376"/>
          </a:xfrm>
          <a:prstGeom prst="rect">
            <a:avLst/>
          </a:prstGeom>
          <a:solidFill>
            <a:srgbClr val="963927"/>
          </a:solidFill>
          <a:ln w="12700">
            <a:solidFill>
              <a:srgbClr val="9639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4895" y="5138928"/>
            <a:ext cx="827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2025-26*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08319" y="1657216"/>
            <a:ext cx="9009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63927"/>
                </a:solidFill>
              </a:rPr>
              <a:t>625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" y="1335024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282D"/>
                </a:solidFill>
              </a:rPr>
              <a:t>Wyoming limestone, converted to 25-ton truck-equivalent ADTs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18120" y="1115568"/>
            <a:ext cx="3611880" cy="4526280"/>
          </a:xfrm>
          <a:prstGeom prst="rect">
            <a:avLst/>
          </a:prstGeom>
          <a:solidFill>
            <a:srgbClr val="122126"/>
          </a:solidFill>
          <a:ln w="10160">
            <a:solidFill>
              <a:srgbClr val="1221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The calculation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8183880" y="19933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4EEE4"/>
                </a:solidFill>
              </a:rPr>
              <a:t>tons / 25 = loaded trucks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8183880" y="2450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4EEE4"/>
                </a:solidFill>
              </a:rPr>
              <a:t>loaded trucks x 2 = movements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8183880" y="290779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EEE4"/>
                </a:solidFill>
              </a:rPr>
              <a:t>movements x 3 PCE / 250 workdays = ADTs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83880" y="3529584"/>
            <a:ext cx="2697480" cy="0"/>
          </a:xfrm>
          <a:prstGeom prst="line">
            <a:avLst/>
          </a:prstGeom>
          <a:noFill/>
          <a:ln w="13970">
            <a:solidFill>
              <a:srgbClr val="6C7B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3913632"/>
            <a:ext cx="2670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D89B36"/>
                </a:solidFill>
              </a:rPr>
              <a:t>2024-25 reported 518,482 tons: about 20,739 loaded 25-ton trucks, 41,479 truck movements, and 498 ADTs.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8183880" y="498348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DCE5E1"/>
                </a:solidFill>
              </a:rPr>
              <a:t>*2025-26 report is marked under review.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PT0658 annual reports, 2020 through 2026; PT0658_Wyoming_Traffic_Calculations.csv. Formula uses 25-ton trucks, two movements per loaded truck, 3 PCE factor, and 250 workdays.</a:t>
            </a:r>
            <a:endParaRPr lang="en-US" sz="670" dirty="0"/>
          </a:p>
        </p:txBody>
      </p:sp>
      <p:sp>
        <p:nvSpPr>
          <p:cNvPr id="38" name="Text 36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WYOMING PT0658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Wyoming limestone alone overwhelms the 1994 inbound baseline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62356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4956048"/>
            <a:ext cx="4892040" cy="0"/>
          </a:xfrm>
          <a:prstGeom prst="line">
            <a:avLst/>
          </a:prstGeom>
          <a:noFill/>
          <a:ln w="12700">
            <a:solidFill>
              <a:srgbClr val="C7D0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756" y="4697765"/>
            <a:ext cx="847649" cy="258283"/>
          </a:xfrm>
          <a:prstGeom prst="rect">
            <a:avLst/>
          </a:prstGeom>
          <a:solidFill>
            <a:srgbClr val="657175"/>
          </a:solidFill>
          <a:ln w="12700">
            <a:solidFill>
              <a:srgbClr val="6571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66876" y="5074920"/>
            <a:ext cx="12134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1994 inbound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330300" y="4414301"/>
            <a:ext cx="12865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57175"/>
                </a:solidFill>
              </a:rPr>
              <a:t>54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19476" y="2574106"/>
            <a:ext cx="847649" cy="2381942"/>
          </a:xfrm>
          <a:prstGeom prst="rect">
            <a:avLst/>
          </a:prstGeom>
          <a:solidFill>
            <a:srgbClr val="B64B35"/>
          </a:solidFill>
          <a:ln w="12700">
            <a:solidFill>
              <a:srgbClr val="B64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36596" y="5074920"/>
            <a:ext cx="12134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2024-25 PT0658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900020" y="2290642"/>
            <a:ext cx="12865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64B35"/>
                </a:solidFill>
              </a:rPr>
              <a:t>498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89196" y="1966663"/>
            <a:ext cx="847649" cy="2989385"/>
          </a:xfrm>
          <a:prstGeom prst="rect">
            <a:avLst/>
          </a:prstGeom>
          <a:solidFill>
            <a:srgbClr val="963927"/>
          </a:solidFill>
          <a:ln w="12700">
            <a:solidFill>
              <a:srgbClr val="9639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6316" y="5074920"/>
            <a:ext cx="12134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2025-26 PT0658*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69740" y="1683199"/>
            <a:ext cx="12865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63927"/>
                </a:solidFill>
              </a:rPr>
              <a:t>625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136245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282D"/>
                </a:solidFill>
              </a:rPr>
              <a:t>Inbound raw-material ADTs vs. PT0658 25-ton truck-equivalent ADTs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143000"/>
            <a:ext cx="461772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8282D"/>
                </a:solidFill>
              </a:rPr>
              <a:t>This is the missing comparison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32320" y="1920240"/>
            <a:ext cx="361188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8282D"/>
                </a:solidFill>
              </a:rPr>
              <a:t>1994 inbound raw-material baseline: about 54 ADTs.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8282D"/>
                </a:solidFill>
              </a:rPr>
              <a:t>PT0658 2024-25 Wyoming limestone alone: about 498 ADTs, before shale and other materials.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8282D"/>
                </a:solidFill>
              </a:rPr>
              <a:t>That is roughly 9.2x the 1994 inbound baseline.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8282D"/>
                </a:solidFill>
              </a:rPr>
              <a:t>The under-review 2025-26 PT0658 figure implies about 625 ADTs, roughly 11.6x the 1994 inbound baseline.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7114032" y="4352544"/>
            <a:ext cx="3493008" cy="694944"/>
          </a:xfrm>
          <a:prstGeom prst="rect">
            <a:avLst/>
          </a:prstGeom>
          <a:solidFill>
            <a:srgbClr val="F2F5F0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4032" y="4352544"/>
            <a:ext cx="118872" cy="694944"/>
          </a:xfrm>
          <a:prstGeom prst="rect">
            <a:avLst/>
          </a:prstGeom>
          <a:solidFill>
            <a:srgbClr val="963927"/>
          </a:solidFill>
          <a:ln w="12700">
            <a:solidFill>
              <a:srgbClr val="9639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0064" y="4425696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82D"/>
                </a:solidFill>
              </a:rPr>
              <a:t>This directly undercuts Dale Case's no-increase view: modern raw-material trucking is far beyond the 1994 operation.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6235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282D"/>
                </a:solidFill>
              </a:rPr>
              <a:t>CEMEX-era PT0658 reports from Sept. 14, 2018 through Feb. 27, 2025 total about 2.13 million tons: roughly 85,329 loaded 25-ton trucks and 170,658 truck movements.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CEMEX Historical Data.xlsx, Data Dec18 row 7; PT0658 annual reports; PT0658_Wyoming_Traffic_Calculations.csv. *2025-26 report is marked under review.</a:t>
            </a:r>
            <a:endParaRPr lang="en-US" sz="670" dirty="0"/>
          </a:p>
        </p:txBody>
      </p:sp>
      <p:sp>
        <p:nvSpPr>
          <p:cNvPr id="25" name="Text 23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SUPPLY CHAIN CHANGE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1994 is not equivalent to the modern trucked-feedstock operation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324612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44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57175"/>
                </a:solidFill>
              </a:rPr>
              <a:t>1994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920240"/>
            <a:ext cx="239572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8282D"/>
                </a:solidFill>
              </a:rPr>
              <a:t>About 56,739 tons externally trucked.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8282D"/>
                </a:solidFill>
              </a:rPr>
              <a:t>About 361,766 tons conveyed or hauled locally.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8282D"/>
                </a:solidFill>
              </a:rPr>
              <a:t>Inbound raw-material ADTs: about 54.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8282D"/>
                </a:solidFill>
              </a:rPr>
              <a:t>Local supply still anchored the plant operation.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097280"/>
            <a:ext cx="324612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444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4B35"/>
                </a:solidFill>
              </a:rPr>
              <a:t>2022-23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00600" y="1847088"/>
            <a:ext cx="2450592" cy="22128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8282D"/>
                </a:solidFill>
              </a:rPr>
              <a:t>Dowe Flats closes September 30, 2022.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8282D"/>
                </a:solidFill>
              </a:rPr>
              <a:t>Raw materials shift to external highway trucks.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8282D"/>
                </a:solidFill>
              </a:rPr>
              <a:t>Workbook shows limestone from Wyoming and shale from Arcosa/Boulder County.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8282D"/>
                </a:solidFill>
              </a:rPr>
              <a:t>PT0658 reported 304,715 tons in 2022-23 and 518,482 tons in 2024-25.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8282D"/>
                </a:solidFill>
              </a:rPr>
              <a:t>Inbound raw-material ADTs jump into the 300-450 range.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183880" y="1097280"/>
            <a:ext cx="3246120" cy="4434840"/>
          </a:xfrm>
          <a:prstGeom prst="rect">
            <a:avLst/>
          </a:prstGeom>
          <a:solidFill>
            <a:srgbClr val="122126"/>
          </a:solidFill>
          <a:ln w="10160">
            <a:solidFill>
              <a:srgbClr val="1221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1444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85632" y="208483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4EEE4"/>
                </a:solidFill>
              </a:rPr>
              <a:t>The nonconforming use was not merely producing cement. Its historic operation depended on local quarry/conveyor logistics. Replacing that system with regional truck deliveries is a material alteration.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8394192" y="4160520"/>
            <a:ext cx="118872" cy="658368"/>
          </a:xfrm>
          <a:prstGeom prst="rect">
            <a:avLst/>
          </a:prstGeom>
          <a:solidFill>
            <a:srgbClr val="B64B35"/>
          </a:solidFill>
          <a:ln w="12700">
            <a:solidFill>
              <a:srgbClr val="B64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13064" y="4160520"/>
            <a:ext cx="2551176" cy="658368"/>
          </a:xfrm>
          <a:prstGeom prst="rect">
            <a:avLst/>
          </a:prstGeom>
          <a:solidFill>
            <a:srgbClr val="1D3137"/>
          </a:solidFill>
          <a:ln w="8890">
            <a:solidFill>
              <a:srgbClr val="C7D0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43251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Dale Case's view collapses the exact factual distinction the Code is meant to police.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CEMEX Historical Data.xlsx, Data Dec18 row 40 and Inbound Material Modes rows 5-14; PT0658 annual reports; Boulder County Resolution 2022-075.</a:t>
            </a:r>
            <a:endParaRPr lang="en-US" sz="670" dirty="0"/>
          </a:p>
        </p:txBody>
      </p:sp>
      <p:sp>
        <p:nvSpPr>
          <p:cNvPr id="18" name="Text 16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LANDIS PROBLEMS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Landis-based no-increase conclusion is not reliable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15568"/>
            <a:ext cx="5029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35024"/>
            <a:ext cx="1261872" cy="310896"/>
          </a:xfrm>
          <a:prstGeom prst="roundRect">
            <a:avLst>
              <a:gd name="adj" fmla="val 14706"/>
            </a:avLst>
          </a:prstGeom>
          <a:solidFill>
            <a:srgbClr val="657175"/>
          </a:solidFill>
          <a:ln w="12700">
            <a:solidFill>
              <a:srgbClr val="6571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417320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Omitted 1994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2404872" y="133502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82D"/>
                </a:solidFill>
              </a:rPr>
              <a:t>The flaws worksheet states the plant became nonconforming on October 18, 1994, but the Landis comparison omits 1994.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532888"/>
            <a:ext cx="5029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52344"/>
            <a:ext cx="1261872" cy="310896"/>
          </a:xfrm>
          <a:prstGeom prst="roundRect">
            <a:avLst>
              <a:gd name="adj" fmla="val 14706"/>
            </a:avLst>
          </a:prstGeom>
          <a:solidFill>
            <a:srgbClr val="657175"/>
          </a:solidFill>
          <a:ln w="12700">
            <a:solidFill>
              <a:srgbClr val="6571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834640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Mixed units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404872" y="275234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82D"/>
                </a:solidFill>
              </a:rPr>
              <a:t>CDOT background traffic, truck volumes, daily trucks, and ADTs are not normalized to the same impact unit.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950208"/>
            <a:ext cx="5029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169664"/>
            <a:ext cx="1261872" cy="310896"/>
          </a:xfrm>
          <a:prstGeom prst="roundRect">
            <a:avLst>
              <a:gd name="adj" fmla="val 14706"/>
            </a:avLst>
          </a:prstGeom>
          <a:solidFill>
            <a:srgbClr val="B64B35"/>
          </a:solidFill>
          <a:ln w="12700">
            <a:solidFill>
              <a:srgbClr val="B64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4251960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Bad arithmetic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2404872" y="416966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82D"/>
                </a:solidFill>
              </a:rPr>
              <a:t>Appendix B's daily truck calculations are identified as wrong, including the 2023 example.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115568"/>
            <a:ext cx="5029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335024"/>
            <a:ext cx="1261872" cy="310896"/>
          </a:xfrm>
          <a:prstGeom prst="roundRect">
            <a:avLst>
              <a:gd name="adj" fmla="val 14706"/>
            </a:avLst>
          </a:prstGeom>
          <a:solidFill>
            <a:srgbClr val="657175"/>
          </a:solidFill>
          <a:ln w="12700">
            <a:solidFill>
              <a:srgbClr val="6571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1417320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Weak regression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982712" y="133502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82D"/>
                </a:solidFill>
              </a:rPr>
              <a:t>Historic pre-1994 truck volumes are estimated, not actual, and the model extrapolates across different operating eras.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2532888"/>
            <a:ext cx="5029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752344"/>
            <a:ext cx="1261872" cy="310896"/>
          </a:xfrm>
          <a:prstGeom prst="roundRect">
            <a:avLst>
              <a:gd name="adj" fmla="val 14706"/>
            </a:avLst>
          </a:prstGeom>
          <a:solidFill>
            <a:srgbClr val="657175"/>
          </a:solidFill>
          <a:ln w="12700">
            <a:solidFill>
              <a:srgbClr val="6571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2824" y="2834640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Wrong equivalence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7982712" y="275234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82D"/>
                </a:solidFill>
              </a:rPr>
              <a:t>2019-22 Dowe Flats plus Wyoming supply is not equivalent to 1994 limited Larimer supply plus Lyons/local operations.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950208"/>
            <a:ext cx="5029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169664"/>
            <a:ext cx="1261872" cy="310896"/>
          </a:xfrm>
          <a:prstGeom prst="roundRect">
            <a:avLst>
              <a:gd name="adj" fmla="val 14706"/>
            </a:avLst>
          </a:prstGeom>
          <a:solidFill>
            <a:srgbClr val="B64B35"/>
          </a:solidFill>
          <a:ln w="12700">
            <a:solidFill>
              <a:srgbClr val="B64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251960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Ignored spike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7982712" y="416966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82D"/>
                </a:solidFill>
              </a:rPr>
              <a:t>The Stantec June 2023 logs show 1,283 ADTs and should not disappear from the analysis.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0120" y="5577840"/>
            <a:ext cx="100584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5577840"/>
            <a:ext cx="118872" cy="457200"/>
          </a:xfrm>
          <a:prstGeom prst="rect">
            <a:avLst/>
          </a:prstGeom>
          <a:solidFill>
            <a:srgbClr val="963927"/>
          </a:solidFill>
          <a:ln w="12700">
            <a:solidFill>
              <a:srgbClr val="9639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6152" y="5650992"/>
            <a:ext cx="9646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82D"/>
                </a:solidFill>
              </a:rPr>
              <a:t>A rescission should not rest on a consultant report with unresolved math, unit, baseline, and data-selection problems.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CEMEX Historical Data.xlsx, Landis Flaws rows 5, 8-14, 17-23, 26-27; GNL/SOSVV Dec. 20, 2024 letter; Landis report, Nov. 5, 2024.</a:t>
            </a:r>
            <a:endParaRPr lang="en-US" sz="670" dirty="0"/>
          </a:p>
        </p:txBody>
      </p:sp>
      <p:sp>
        <p:nvSpPr>
          <p:cNvPr id="33" name="Text 31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JUNE 2023 EVIDENCE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Stantec June 2023 spike is corroboration, not the whole case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484632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4956048"/>
            <a:ext cx="4114800" cy="0"/>
          </a:xfrm>
          <a:prstGeom prst="line">
            <a:avLst/>
          </a:prstGeom>
          <a:noFill/>
          <a:ln w="12700">
            <a:solidFill>
              <a:srgbClr val="C7D0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0891" y="3537884"/>
            <a:ext cx="1061618" cy="1418164"/>
          </a:xfrm>
          <a:prstGeom prst="rect">
            <a:avLst/>
          </a:prstGeom>
          <a:solidFill>
            <a:srgbClr val="657175"/>
          </a:solidFill>
          <a:ln w="12700">
            <a:solidFill>
              <a:srgbClr val="6571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8011" y="5074920"/>
            <a:ext cx="1427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June 2022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21435" y="3254420"/>
            <a:ext cx="15005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57175"/>
                </a:solidFill>
              </a:rPr>
              <a:t>593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06851" y="1887744"/>
            <a:ext cx="1061618" cy="3068304"/>
          </a:xfrm>
          <a:prstGeom prst="rect">
            <a:avLst/>
          </a:prstGeom>
          <a:solidFill>
            <a:srgbClr val="963927"/>
          </a:solidFill>
          <a:ln w="12700">
            <a:solidFill>
              <a:srgbClr val="9639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3971" y="5074920"/>
            <a:ext cx="1427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F3A3D"/>
                </a:solidFill>
              </a:rPr>
              <a:t>June 2023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7395" y="1604280"/>
            <a:ext cx="15005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63927"/>
                </a:solidFill>
              </a:rPr>
              <a:t>1,283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13624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282D"/>
                </a:solidFill>
              </a:rPr>
              <a:t>Stantec ADTs cited in April 2024 termination notice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544068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82D"/>
                </a:solidFill>
              </a:rPr>
              <a:t>How to use this evidence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420624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8282D"/>
                </a:solidFill>
              </a:rPr>
              <a:t>Do not make June 2023 the only proof. Stantec later argued its study was a limited access analysis.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8282D"/>
                </a:solidFill>
              </a:rPr>
              <a:t>Use it as an actual observed spike showing what the new supply chain can do.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8282D"/>
                </a:solidFill>
              </a:rPr>
              <a:t>Then anchor the case in annual/monthly CEMEX data and inbound raw-material ADTs.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8282D"/>
                </a:solidFill>
              </a:rPr>
              <a:t>Together, the data show both acute spikes and structural traffic growth.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4315968"/>
            <a:ext cx="4005072" cy="621792"/>
          </a:xfrm>
          <a:prstGeom prst="rect">
            <a:avLst/>
          </a:prstGeom>
          <a:solidFill>
            <a:srgbClr val="F2F5F0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4315968"/>
            <a:ext cx="118872" cy="621792"/>
          </a:xfrm>
          <a:prstGeom prst="rect">
            <a:avLst/>
          </a:prstGeom>
          <a:solidFill>
            <a:srgbClr val="B64B35"/>
          </a:solidFill>
          <a:ln w="12700">
            <a:solidFill>
              <a:srgbClr val="B64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4389120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82D"/>
                </a:solidFill>
              </a:rPr>
              <a:t>The County's original April 2024 termination had a real factual basis. The corrected 1994 comparison strengthens 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Boulder County April 10, 2024 Notice; Stantec Nov. 7, 2024 memo; CEMEX Historical Data.xlsx, Exhibit - Total ADTs and Exhibit - Post Dowe Flats ADTs.</a:t>
            </a:r>
            <a:endParaRPr lang="en-US" sz="670" dirty="0"/>
          </a:p>
        </p:txBody>
      </p:sp>
      <p:sp>
        <p:nvSpPr>
          <p:cNvPr id="21" name="Text 19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SILVESTRO LEGAL FRAME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strongest legal frame: traffic is proof of an altered operation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70432"/>
            <a:ext cx="324612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481328"/>
            <a:ext cx="438912" cy="438912"/>
          </a:xfrm>
          <a:prstGeom prst="ellipse">
            <a:avLst/>
          </a:prstGeom>
          <a:solidFill>
            <a:srgbClr val="116B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61848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54480" y="15179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8282D"/>
                </a:solidFill>
              </a:rPr>
              <a:t>What changed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033272" y="21488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8282D"/>
                </a:solidFill>
              </a:rPr>
              <a:t>CEMEX shifted the plant from local/adjoining raw-material supply to distant, trucked feedstock. That is the operational alteration.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16552" y="1170432"/>
            <a:ext cx="3246120" cy="3291840"/>
          </a:xfrm>
          <a:prstGeom prst="rect">
            <a:avLst/>
          </a:prstGeom>
          <a:solidFill>
            <a:srgbClr val="122126"/>
          </a:solidFill>
          <a:ln w="10160">
            <a:solidFill>
              <a:srgbClr val="12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1481328"/>
            <a:ext cx="438912" cy="438912"/>
          </a:xfrm>
          <a:prstGeom prst="ellipse">
            <a:avLst/>
          </a:prstGeom>
          <a:solidFill>
            <a:srgbClr val="116B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61848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85232" y="15179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Why traffic matters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4764024" y="21488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EEE4"/>
                </a:solidFill>
              </a:rPr>
              <a:t>Offsite truck impacts are the evidence and consequence of that alteration: hazard, nuisance, neighborhood impact, and need for services.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47304" y="1170432"/>
            <a:ext cx="324612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3336" y="1481328"/>
            <a:ext cx="438912" cy="438912"/>
          </a:xfrm>
          <a:prstGeom prst="ellipse">
            <a:avLst/>
          </a:prstGeom>
          <a:solidFill>
            <a:srgbClr val="B64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161848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015984" y="15179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8282D"/>
                </a:solidFill>
              </a:rPr>
              <a:t>Why CEMEX defenses fail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8494776" y="21488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8282D"/>
                </a:solidFill>
              </a:rPr>
              <a:t>Background road traffic, estoppel, takings, and due-process rhetoric do not erase CEMEX's burden to prove it stayed within the nonconforming use.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983480"/>
            <a:ext cx="10058400" cy="658368"/>
          </a:xfrm>
          <a:prstGeom prst="rect">
            <a:avLst/>
          </a:prstGeom>
          <a:solidFill>
            <a:srgbClr val="F2F5F0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983480"/>
            <a:ext cx="118872" cy="658368"/>
          </a:xfrm>
          <a:prstGeom prst="rect">
            <a:avLst/>
          </a:prstGeom>
          <a:solidFill>
            <a:srgbClr val="963927"/>
          </a:solidFill>
          <a:ln w="12700">
            <a:solidFill>
              <a:srgbClr val="9639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6152" y="5056632"/>
            <a:ext cx="964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82D"/>
                </a:solidFill>
              </a:rPr>
              <a:t>Silvestro's additive point: CEMEX is wrong to say only onsite structural changes matter. Article 4-1003.C.1.d reaches any other alteration of the use with offsite hazard, nuisance, neighborhood, or service impacts.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James R. Silvestro letters to Dale Case, July 9, 2024 and Dec. 20, 2024; Boulder County Land Use Code Article 4-1003.C.1.d and H.1; Fire House Car Wash, 30 P.3d 762.</a:t>
            </a:r>
            <a:endParaRPr lang="en-US" sz="670" dirty="0"/>
          </a:p>
        </p:txBody>
      </p:sp>
      <p:sp>
        <p:nvSpPr>
          <p:cNvPr id="24" name="Text 22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LEGAL CONSEQUENCE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Article 4-1003.C.1.d does not require a crash epidemic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5120640" cy="4480560"/>
          </a:xfrm>
          <a:prstGeom prst="rect">
            <a:avLst/>
          </a:prstGeom>
          <a:solidFill>
            <a:srgbClr val="122126"/>
          </a:solidFill>
          <a:ln w="10160">
            <a:solidFill>
              <a:srgbClr val="1221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44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trigger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1993392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EEE4"/>
                </a:solidFill>
              </a:rPr>
              <a:t>Any alteration of the nonconforming use that creates or threatens hazard or nuisance, adversely affects neighborhood character, or intensifies the use of land or need for services.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886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CE5E1"/>
                </a:solidFill>
              </a:rPr>
              <a:t>The raw-material trucking shift fits this clause because it changes how the industrial use operates and pushes impacts onto public roads and neighbors.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12064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82D"/>
                </a:solidFill>
              </a:rPr>
              <a:t>Why the rescission should be reversed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1874520"/>
            <a:ext cx="402336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8282D"/>
                </a:solidFill>
              </a:rPr>
              <a:t>Traffic is not the land use; it is proof that CEMEX altered how the land use operates.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8282D"/>
                </a:solidFill>
              </a:rPr>
              <a:t>The decisive category is inbound raw material, where the increase is dramatic.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8282D"/>
                </a:solidFill>
              </a:rPr>
              <a:t>Background traffic on SH-66 does not rebut CEMEX-generated raw-material traffic.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8282D"/>
                </a:solidFill>
              </a:rPr>
              <a:t>CEMEX bears the burden to show it has not expanded beyond the nonconforming use.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8282D"/>
                </a:solidFill>
              </a:rPr>
              <a:t>The April 2024 termination should be reinstated or reissued on corrected findings.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Boulder County Land Use Code Article 4-1003.C.1.d and H.1; Silvestro letters, July 9, 2024 and Dec. 20, 2024; CEMEX Historical Data.xlsx.</a:t>
            </a:r>
            <a:endParaRPr lang="en-US" sz="670" dirty="0"/>
          </a:p>
        </p:txBody>
      </p:sp>
      <p:sp>
        <p:nvSpPr>
          <p:cNvPr id="13" name="Text 11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REQUESTED ACTION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stronger reversal request: correct the baseline, reinstate termination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170432"/>
            <a:ext cx="10607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335024"/>
            <a:ext cx="384048" cy="384048"/>
          </a:xfrm>
          <a:prstGeom prst="ellipse">
            <a:avLst/>
          </a:prstGeom>
          <a:solidFill>
            <a:srgbClr val="116B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444752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664208" y="13350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8282D"/>
                </a:solidFill>
              </a:rPr>
              <a:t>Correct the factual finding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4617720" y="1344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Find that CEMEX-generated traffic has increased compared to 1994 when normalized as ADTs/PCEs.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221992"/>
            <a:ext cx="10607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386584"/>
            <a:ext cx="384048" cy="384048"/>
          </a:xfrm>
          <a:prstGeom prst="ellipse">
            <a:avLst/>
          </a:prstGeom>
          <a:solidFill>
            <a:srgbClr val="116B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496312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64208" y="23865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8282D"/>
                </a:solidFill>
              </a:rPr>
              <a:t>Adopt the legal frame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4617720" y="23957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Find that truck traffic is evidence of the altered operation: distant raw-material sourcing by highway truck.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273552"/>
            <a:ext cx="10607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3438144"/>
            <a:ext cx="384048" cy="384048"/>
          </a:xfrm>
          <a:prstGeom prst="ellipse">
            <a:avLst/>
          </a:prstGeom>
          <a:solidFill>
            <a:srgbClr val="116B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547872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64208" y="34381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8282D"/>
                </a:solidFill>
              </a:rPr>
              <a:t>Add PT0658 as an exhibit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4617720" y="34472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Use Wyoming tonnage and 25-ton truck math to show the trucked-feedstock operation dwarfs 1994 inbound traffic.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4325112"/>
            <a:ext cx="10607040" cy="749808"/>
          </a:xfrm>
          <a:prstGeom prst="rect">
            <a:avLst/>
          </a:prstGeom>
          <a:solidFill>
            <a:srgbClr val="F7E9E4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489704"/>
            <a:ext cx="384048" cy="384048"/>
          </a:xfrm>
          <a:prstGeom prst="ellipse">
            <a:avLst/>
          </a:prstGeom>
          <a:solidFill>
            <a:srgbClr val="B64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599432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64208" y="44897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8282D"/>
                </a:solidFill>
              </a:rPr>
              <a:t>Reinstate or reissue termination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4617720" y="44988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A3D"/>
                </a:solidFill>
              </a:rPr>
              <a:t>Restore the April 10, 2024 determination with corrected findings and preserve appeal rights.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120" y="5532120"/>
            <a:ext cx="100584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5532120"/>
            <a:ext cx="118872" cy="475488"/>
          </a:xfrm>
          <a:prstGeom prst="rect">
            <a:avLst/>
          </a:prstGeom>
          <a:solidFill>
            <a:srgbClr val="963927"/>
          </a:solidFill>
          <a:ln w="12700">
            <a:solidFill>
              <a:srgbClr val="9639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16152" y="5605272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82D"/>
                </a:solidFill>
              </a:rPr>
              <a:t>Public message: the County should not rescind a valid termination based on a traffic conclusion the record itself contradicts.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 of ZON-23-0003 record, Silvestro letters, CEMEX Historical Data.xlsx, PT0658 annual reports, and Boulder County April 10, 2024 termination notice.</a:t>
            </a:r>
            <a:endParaRPr lang="en-US" sz="670" dirty="0"/>
          </a:p>
        </p:txBody>
      </p:sp>
      <p:sp>
        <p:nvSpPr>
          <p:cNvPr id="29" name="Text 27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PUBLIC EXPLANATION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plain-English story</a:t>
            </a:r>
            <a:endParaRPr lang="en-US" sz="2500" dirty="0"/>
          </a:p>
        </p:txBody>
      </p:sp>
      <p:pic>
        <p:nvPicPr>
          <p:cNvPr id="4" name="Image 0" descr="/Volumes/MiniExt/Projects/cemex-nonconforming/CEMEX-Repo-v2/Images/lyons_town.jpeg">    </p:cNvPr>
          <p:cNvPicPr>
            <a:picLocks noChangeAspect="1"/>
          </p:cNvPicPr>
          <p:nvPr/>
        </p:nvPicPr>
        <p:blipFill>
          <a:blip r:embed="rId1">
            <a:alphaModFix amt="6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>
              <a:alpha val="90000"/>
            </a:srgbClr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234440"/>
            <a:ext cx="338328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07408" y="1234440"/>
            <a:ext cx="338328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234440"/>
            <a:ext cx="338328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664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6B74"/>
                </a:solidFill>
              </a:rPr>
              <a:t>The question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42416" y="224028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8282D"/>
                </a:solidFill>
              </a:rPr>
              <a:t>Did CEMEX stay within the historic grandfathered use?</a:t>
            </a:r>
            <a:endParaRPr lang="en-US" sz="1540" dirty="0"/>
          </a:p>
        </p:txBody>
      </p:sp>
      <p:sp>
        <p:nvSpPr>
          <p:cNvPr id="11" name="Text 8"/>
          <p:cNvSpPr/>
          <p:nvPr/>
        </p:nvSpPr>
        <p:spPr>
          <a:xfrm>
            <a:off x="4754880" y="1664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64B35"/>
                </a:solidFill>
              </a:rPr>
              <a:t>The data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736592" y="1975104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8282D"/>
                </a:solidFill>
              </a:rPr>
              <a:t>No. The plant changed how it gets raw materials. The truck traffic is the proof: total ADTs are up, inbound ADTs are way up, and Wyoming limestone alone dwarfs the old baseline.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8503920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963927"/>
                </a:solidFill>
              </a:rPr>
              <a:t>The remedy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558784" y="224028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8282D"/>
                </a:solidFill>
              </a:rPr>
              <a:t>Reverse the rescission and reinstate termination on corrected findings.</a:t>
            </a:r>
            <a:endParaRPr lang="en-US" sz="1520" dirty="0"/>
          </a:p>
        </p:txBody>
      </p:sp>
      <p:sp>
        <p:nvSpPr>
          <p:cNvPr id="15" name="Shap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explanation derived from cited traffic workbook, Silvestro letters, PT0658 annual reports, Boulder County record, and Land Use Code Article 4-1003.</a:t>
            </a:r>
            <a:endParaRPr lang="en-US" sz="670" dirty="0"/>
          </a:p>
        </p:txBody>
      </p:sp>
      <p:sp>
        <p:nvSpPr>
          <p:cNvPr id="17" name="Text 14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116B74"/>
                </a:solidFill>
              </a:rPr>
              <a:t>SELECTED SOURCES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2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sources for the revised traffic brief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33272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8282D"/>
                </a:solidFill>
              </a:rPr>
              <a:t>CEMEX Historical Data.xlsx: Data Dec18, Exhibit - ADT Summary, Exhibit - Total ADTs, Exhibit - Post Dowe Flats ADTs, Landis Flaws, Inbound Material Modes.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8282D"/>
                </a:solidFill>
              </a:rPr>
              <a:t>Wyoming Mine PT0658 annual reports, 2020 through 2026; PT0658_Wyoming_Traffic_Calculations.csv.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8282D"/>
                </a:solidFill>
              </a:rPr>
              <a:t>Boulder County Community Planning &amp; Permitting, Notice of Termination of Nonconforming Status, April 10, 2024.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8282D"/>
                </a:solidFill>
              </a:rPr>
              <a:t>Landis Evans + Partners, CEMEX Lyons Plant Traffic Study, November 5, 2024.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8282D"/>
                </a:solidFill>
              </a:rPr>
              <a:t>Stantec supplemental memo, November 7, 2024, and Stantec access traffic study figures cited by Boulder County.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8282D"/>
                </a:solidFill>
              </a:rPr>
              <a:t>James R. Silvestro letters to Dale Case for GNL/SOSVV, July 9, 2024 and December 20, 2024.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8282D"/>
                </a:solidFill>
              </a:rPr>
              <a:t>Martin Marietta/SOSVV Board of Adjustment precedent packets regarding lapse and estoppel, 2022.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8282D"/>
                </a:solidFill>
              </a:rPr>
              <a:t>Boulder County Land Use Department letter to CEMEX, October 8, 2002.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8282D"/>
                </a:solidFill>
              </a:rPr>
              <a:t>Boulder County Land Use Code Article 4-1003.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8282D"/>
                </a:solidFill>
              </a:rPr>
              <a:t>Boulder County Resolution 2022-075 denying SU-22-0003.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960120" y="5504688"/>
            <a:ext cx="100126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0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5504688"/>
            <a:ext cx="118872" cy="457200"/>
          </a:xfrm>
          <a:prstGeom prst="rect">
            <a:avLst/>
          </a:prstGeom>
          <a:solidFill>
            <a:srgbClr val="116B74"/>
          </a:solidFill>
          <a:ln w="12700">
            <a:solidFill>
              <a:srgbClr val="116B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55778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82D"/>
                </a:solidFill>
              </a:rPr>
              <a:t>This deck is a public-education and advocacy synthesis. Before official filing, attach the underlying workbook tables and primary PDFs as exhibits.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8282D"/>
          </a:solidFill>
          <a:ln w="12700">
            <a:solidFill>
              <a:srgbClr val="1828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37960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DC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local workspace materials in the CEMEX Lyons public archive.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11503152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CE4DF"/>
                </a:solidFill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Good Neighbors of Lyons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Reverse the CEMEX Lyons Rescission</dc:title>
  <dc:subject>Rebuttal to 1994 traffic comparison rationale in CEMEX Lyons rescission</dc:subject>
  <dc:creator>Good Neighbors of Lyons / public document archive synthesis</dc:creator>
  <cp:lastModifiedBy>Good Neighbors of Lyons / public document archive synthesis</cp:lastModifiedBy>
  <cp:revision>1</cp:revision>
  <dcterms:created xsi:type="dcterms:W3CDTF">2026-06-21T01:59:29Z</dcterms:created>
  <dcterms:modified xsi:type="dcterms:W3CDTF">2026-06-21T01:59:29Z</dcterms:modified>
</cp:coreProperties>
</file>